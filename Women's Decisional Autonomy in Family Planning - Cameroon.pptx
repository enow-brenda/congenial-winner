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6256000" cy="9144000"/>
  <p:notesSz cx="9144000" cy="16256000"/>
  <p:embeddedFontLst>
    <p:embeddedFont>
      <p:font typeface="Oranienbaum" panose="02000506080000020003" pitchFamily="2" charset="0"/>
      <p:regular r:id="rId17"/>
    </p:embeddedFon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6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6E-4DE5-9C69-082652526069}"/>
              </c:ext>
            </c:extLst>
          </c:dPt>
          <c:dPt>
            <c:idx val="1"/>
            <c:bubble3D val="0"/>
            <c:spPr>
              <a:solidFill>
                <a:srgbClr val="C879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6E-4DE5-9C69-082652526069}"/>
              </c:ext>
            </c:extLst>
          </c:dPt>
          <c:dPt>
            <c:idx val="2"/>
            <c:bubble3D val="0"/>
            <c:spPr>
              <a:solidFill>
                <a:srgbClr val="7A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6E-4DE5-9C69-082652526069}"/>
              </c:ext>
            </c:extLst>
          </c:dPt>
          <c:dPt>
            <c:idx val="3"/>
            <c:bubble3D val="0"/>
            <c:spPr>
              <a:solidFill>
                <a:srgbClr val="5B7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6E-4DE5-9C69-08265252606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CM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6E-4DE5-9C69-08265252606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6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340EA0D7-8796-49DF-8D6C-68AB04E2871D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 sz="16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CM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E6E-4DE5-9C69-08265252606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CM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6E-4DE5-9C69-08265252606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CM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6E-4DE5-9C69-08265252606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CM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Joint decision</c:v>
                </c:pt>
                <c:pt idx="1">
                  <c:v>Woman alone</c:v>
                </c:pt>
                <c:pt idx="2">
                  <c:v>Husband alone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57.3</c:v>
                </c:pt>
                <c:pt idx="1">
                  <c:v>26</c:v>
                </c:pt>
                <c:pt idx="2">
                  <c:v>16.600000000000001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6E-4DE5-9C69-082652526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9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acgpt-congenial-winner.streamlit.app/?page=predic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now-brenda/congenial-winner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acgpt-congenial-winner.streamlit.app/?page=predict" TargetMode="External"/><Relationship Id="rId4" Type="http://schemas.openxmlformats.org/officeDocument/2006/relationships/hyperlink" Target="https://github.com/Enow-brenda/congenial-winn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https://kimi-web-img.moonshot.cn/img/civil-protection-humanitarian-aid.ec.europa.eu/31596dad7e87ead7b3a20bbc88a5f8f8b897481a.jpg">
            <a:extLst>
              <a:ext uri="{FF2B5EF4-FFF2-40B4-BE49-F238E27FC236}">
                <a16:creationId xmlns:a16="http://schemas.microsoft.com/office/drawing/2014/main" id="{9D328651-7DA5-DC4C-EC96-13D4ACCA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0">
            <a:extLst>
              <a:ext uri="{FF2B5EF4-FFF2-40B4-BE49-F238E27FC236}">
                <a16:creationId xmlns:a16="http://schemas.microsoft.com/office/drawing/2014/main" id="{46A10580-65CD-6921-0238-3B9B3ECD46F5}"/>
              </a:ext>
            </a:extLst>
          </p:cNvPr>
          <p:cNvSpPr/>
          <p:nvPr/>
        </p:nvSpPr>
        <p:spPr>
          <a:xfrm>
            <a:off x="0" y="0"/>
            <a:ext cx="16167100" cy="9144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6F7B">
                  <a:alpha val="95000"/>
                </a:srgbClr>
              </a:gs>
              <a:gs pos="50000">
                <a:srgbClr val="5A6F7B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CM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3C4EC1F4-499C-1A49-76A1-0A2CA3575E44}"/>
              </a:ext>
            </a:extLst>
          </p:cNvPr>
          <p:cNvSpPr/>
          <p:nvPr/>
        </p:nvSpPr>
        <p:spPr>
          <a:xfrm>
            <a:off x="685799" y="975121"/>
            <a:ext cx="2879765" cy="457200"/>
          </a:xfrm>
          <a:custGeom>
            <a:avLst/>
            <a:gdLst/>
            <a:ahLst/>
            <a:cxnLst/>
            <a:rect l="l" t="t" r="r" b="b"/>
            <a:pathLst>
              <a:path w="2171700" h="342900">
                <a:moveTo>
                  <a:pt x="0" y="0"/>
                </a:moveTo>
                <a:lnTo>
                  <a:pt x="2171700" y="0"/>
                </a:lnTo>
                <a:lnTo>
                  <a:pt x="21717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6390A75-EA71-E82A-7E7F-DFFB1B34FDB4}"/>
              </a:ext>
            </a:extLst>
          </p:cNvPr>
          <p:cNvSpPr/>
          <p:nvPr/>
        </p:nvSpPr>
        <p:spPr>
          <a:xfrm>
            <a:off x="641591" y="974923"/>
            <a:ext cx="2968179" cy="4572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b="1" kern="0" spc="105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Presentation</a:t>
            </a:r>
            <a:endParaRPr lang="en-US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1BE1D2A-6B22-2E39-9294-3D8971DD675E}"/>
              </a:ext>
            </a:extLst>
          </p:cNvPr>
          <p:cNvSpPr/>
          <p:nvPr/>
        </p:nvSpPr>
        <p:spPr>
          <a:xfrm>
            <a:off x="685799" y="2101949"/>
            <a:ext cx="10941805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 Associated with Women's Decisional Autonomy in Family Planning Among Women in Cameroon</a:t>
            </a:r>
            <a:endParaRPr lang="en-US" sz="66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13E5850A-64DF-1399-EDB3-828EF72A8996}"/>
              </a:ext>
            </a:extLst>
          </p:cNvPr>
          <p:cNvSpPr/>
          <p:nvPr/>
        </p:nvSpPr>
        <p:spPr>
          <a:xfrm>
            <a:off x="756821" y="5835551"/>
            <a:ext cx="1212533" cy="508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5B7D19B-3052-7CFD-2B6F-5C229F4084B2}"/>
              </a:ext>
            </a:extLst>
          </p:cNvPr>
          <p:cNvSpPr/>
          <p:nvPr/>
        </p:nvSpPr>
        <p:spPr>
          <a:xfrm>
            <a:off x="827544" y="6597749"/>
            <a:ext cx="102560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5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Multinomial Analysis of the 2018 Demographic and Health Survey</a:t>
            </a:r>
            <a:endParaRPr lang="en-US" sz="24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B99B0E1-CA93-456F-8D51-67347CBB296E}"/>
              </a:ext>
            </a:extLst>
          </p:cNvPr>
          <p:cNvSpPr/>
          <p:nvPr/>
        </p:nvSpPr>
        <p:spPr>
          <a:xfrm>
            <a:off x="952500" y="5359598"/>
            <a:ext cx="21219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88C6325-4F09-813C-E5CB-792E038DCEE1}"/>
              </a:ext>
            </a:extLst>
          </p:cNvPr>
          <p:cNvSpPr/>
          <p:nvPr/>
        </p:nvSpPr>
        <p:spPr>
          <a:xfrm>
            <a:off x="3051870" y="5359598"/>
            <a:ext cx="3915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5A0A1A8-8667-E2EA-4ADE-E3BD14904168}"/>
              </a:ext>
            </a:extLst>
          </p:cNvPr>
          <p:cNvSpPr/>
          <p:nvPr/>
        </p:nvSpPr>
        <p:spPr>
          <a:xfrm>
            <a:off x="6503194" y="5359598"/>
            <a:ext cx="10988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508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457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968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667000"/>
            <a:ext cx="406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&amp; Context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Maternal health crisis, Cameroon context, research gap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42000" y="1778000"/>
            <a:ext cx="457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0" y="1968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0" y="2667000"/>
            <a:ext cx="406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source, sample, variables, regression &amp; 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22000" y="1778000"/>
            <a:ext cx="457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76000" y="1968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76000" y="2667000"/>
            <a:ext cx="406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statistics, distribution, regression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457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5397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096000"/>
            <a:ext cx="406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Analysis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comparison, SHAP analysis, live demo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42000" y="5207000"/>
            <a:ext cx="965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0" y="5397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0" y="6096000"/>
            <a:ext cx="914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Discussion &amp; Conclusions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insights, policy recommendations, limitations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 &amp;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 &amp; Context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112000" cy="71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1651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Maternal Health Crisis in SSA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16000" y="20955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Sub-Saharan Africa accounts for </a:t>
            </a:r>
            <a:r>
              <a:rPr lang="en-US" sz="18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66%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global maternal deaths, with an estimated </a:t>
            </a:r>
            <a:r>
              <a:rPr lang="en-US" sz="18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546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maternal deaths per 100,000 live births. Unplanned pregnancies and short inter-pregnancy intervals remain leading contributors.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6000" y="3937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Cameroonian Context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16000" y="4445000"/>
            <a:ext cx="3175000" cy="1397000"/>
          </a:xfrm>
          <a:prstGeom prst="rect">
            <a:avLst/>
          </a:prstGeom>
          <a:solidFill>
            <a:srgbClr val="1B4D5C">
              <a:alpha val="823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5466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5143500"/>
            <a:ext cx="317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married women lack household decision-making autonomy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0" y="4445000"/>
            <a:ext cx="3175000" cy="1397000"/>
          </a:xfrm>
          <a:prstGeom prst="rect">
            <a:avLst/>
          </a:prstGeom>
          <a:solidFill>
            <a:srgbClr val="1B4D5C">
              <a:alpha val="8235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45000" y="45466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45000" y="5143500"/>
            <a:ext cx="317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Sub-Saharan African average across 27 countries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905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Partner approval and intra-couple discussion are the two most significant factors associated with contraceptive use in Cameroon </a:t>
            </a:r>
            <a:r>
              <a:rPr lang="en-US" sz="13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(Ajong et al., 2016; Edietah et al., 2018)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7302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Women with limited decision-making power are less likely to initiate or maintain contraceptive use, even when they desire to do so </a:t>
            </a:r>
            <a:r>
              <a:rPr lang="en-US" sz="13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(Do &amp; Kurimoto, 2012)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82000" y="1651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Gap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382000" y="2159000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6000" y="23495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existing research examines </a:t>
            </a: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binary outcomes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whether a woman has decision-making power or not. </a:t>
            </a: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Fewer studies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examine the full spectrum: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Woman decides alone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Husband/partner decides alone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Joint decision-making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Other decision-makers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5715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Study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382000" y="6223000"/>
            <a:ext cx="7112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36000" y="64135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study addresses this gap by examining the factors associated with each category of decisional autonomy using: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Multinomial logistic regression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Machine learning (7 algorithms)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SHAP feature interpretation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Data: 2018 Cameroon DHS-7 (N=1,533 married, non-pregnant contraceptive users)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Objectives &amp; Data Source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19685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" y="2133600"/>
            <a:ext cx="457200" cy="4572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13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7500" y="2133600"/>
            <a:ext cx="3683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Analysis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 sociodemographic characteristics and distribution of FP decisional autonomy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9685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69000" y="2133600"/>
            <a:ext cx="457200" cy="4572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17" name="Text 15"/>
          <p:cNvSpPr/>
          <p:nvPr/>
        </p:nvSpPr>
        <p:spPr>
          <a:xfrm>
            <a:off x="5969000" y="213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04000" y="2133600"/>
            <a:ext cx="3683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Bivariate Associations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Examine associations between candidate variables and decisional autonomy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19685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5500" y="2133600"/>
            <a:ext cx="457200" cy="4572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85500" y="213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20500" y="2133600"/>
            <a:ext cx="3683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Multivariate + ML Analysis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independent factors via multinomial regression and ML algorithms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393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 &amp; SAMPLE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381500"/>
            <a:ext cx="7112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" y="4572000"/>
            <a:ext cx="660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2018 Cameroon Demographic and Health Survey (DHS-7)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Sampling Design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Stratified two-stage cluster sampling, nationally representative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ICF IRB approved; DHS Program authorization obtained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DHS Sample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14,677 women aged 15–49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5000" y="4381500"/>
            <a:ext cx="7239000" cy="4318000"/>
          </a:xfrm>
          <a:prstGeom prst="rect">
            <a:avLst/>
          </a:prstGeom>
          <a:solidFill>
            <a:srgbClr val="1B4D5C"/>
          </a:solidFill>
          <a:ln/>
        </p:spPr>
        <p:txBody>
          <a:bodyPr/>
          <a:lstStyle/>
          <a:p>
            <a:endParaRPr lang="en-CM" dirty="0"/>
          </a:p>
        </p:txBody>
      </p:sp>
      <p:sp>
        <p:nvSpPr>
          <p:cNvPr id="27" name="Text 25"/>
          <p:cNvSpPr/>
          <p:nvPr/>
        </p:nvSpPr>
        <p:spPr>
          <a:xfrm>
            <a:off x="8636000" y="4572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Sample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6000" y="5080000"/>
            <a:ext cx="6477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1,533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6000" y="60960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Married or cohabiting, non-pregnant women aged 15–49 who were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contraceptive users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Inclusion: V502=1 (married), V213=0 (not pregnant), V312≠0 (current user)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7747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Pregnant women excluded because the decision-making context differs during pregnancy and to adhere to DHS-7 standards.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 &amp; Outcome Variable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 VARIABLE (V632)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6858000" cy="22860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 in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Woman decides alone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Reference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Husband/partner decides alone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Compared vs. ref.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Joint decision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Compared vs. ref.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Other (extended family)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Compared vs. ref.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438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UNFPA SDG 5.6.1 DETERMINANTS FRAMEWORK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4800600"/>
            <a:ext cx="336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500" y="49276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Socio-demographic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2500" y="5270500"/>
            <a:ext cx="298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Age, residence, wealth, region, marital status, religion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81500" y="4800600"/>
            <a:ext cx="336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9276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0" y="5270500"/>
            <a:ext cx="298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Woman's education, employment, contraceptive method, fertility preference, parity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6540500"/>
            <a:ext cx="336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2500" y="66675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Interpersonal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52500" y="7010400"/>
            <a:ext cx="298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Partner's education, desired children, occupation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81500" y="6540500"/>
            <a:ext cx="336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66675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0" y="7010400"/>
            <a:ext cx="298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 visits, FP counseling at facility, media exposure, fieldworker visits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55000" y="1498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ANALYSIS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55000" y="1879600"/>
            <a:ext cx="723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9000" y="2032000"/>
            <a:ext cx="6731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Weighted descriptive statistics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Bivariate: Chi-square + Cramér's V (p&lt;0.20 for model entry)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Multinomial logistic regression (RRR, 95% CI)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selection via AIC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Survey weights (v005) applied throughout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Software: Python 3.11 (statsmodels, scikit-learn)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55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PIPELINE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55000" y="5397500"/>
            <a:ext cx="7239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09000" y="55499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Algorithms: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Forest, XGBoost, LightGBM, AdaBoost, Decision Tree, Logistic Regression, SVM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80/20 split, one-hot encoding, Z-score standardization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Tuning: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5-fold cross-validation, weighted F1 as primary metric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SHAP analysis for feature importance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753092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Distribution of Decisional Autonomy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998134699"/>
              </p:ext>
            </p:extLst>
          </p:nvPr>
        </p:nvGraphicFramePr>
        <p:xfrm>
          <a:off x="762000" y="1524000"/>
          <a:ext cx="6604000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7874000" y="1524000"/>
            <a:ext cx="7620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91500" y="17145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191500" y="2159000"/>
            <a:ext cx="508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4" name="Text 11"/>
          <p:cNvSpPr/>
          <p:nvPr/>
        </p:nvSpPr>
        <p:spPr>
          <a:xfrm>
            <a:off x="8191500" y="2413000"/>
            <a:ext cx="698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57.3%</a:t>
            </a:r>
            <a:r>
              <a:rPr lang="en-US" sz="3600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 Decision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91500" y="3048000"/>
            <a:ext cx="698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858 women — most common pattern, reflecting culturally negotiated contraceptive use where male involvement is normatively expected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91500" y="3810000"/>
            <a:ext cx="698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26.0%</a:t>
            </a:r>
            <a:r>
              <a:rPr lang="en-US" sz="36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Woman Alone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91500" y="4445000"/>
            <a:ext cx="69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389 women — highest autonomy level, but only a quarter of the sample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91500" y="5207000"/>
            <a:ext cx="698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7A9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16.6%</a:t>
            </a:r>
            <a:r>
              <a:rPr lang="en-US" sz="3600" dirty="0">
                <a:solidFill>
                  <a:srgbClr val="7A9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 Alone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91500" y="5842000"/>
            <a:ext cx="698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248 women — male-dominated decision-making with limited female agency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91500" y="6604000"/>
            <a:ext cx="6985000" cy="12700"/>
          </a:xfrm>
          <a:prstGeom prst="rect">
            <a:avLst/>
          </a:prstGeom>
          <a:solidFill>
            <a:srgbClr val="D0CEC8"/>
          </a:solidFill>
          <a:ln/>
        </p:spPr>
      </p:sp>
      <p:sp>
        <p:nvSpPr>
          <p:cNvPr id="21" name="Text 18"/>
          <p:cNvSpPr/>
          <p:nvPr/>
        </p:nvSpPr>
        <p:spPr>
          <a:xfrm>
            <a:off x="8191500" y="67945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r>
              <a:rPr lang="en-US" sz="1500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</a:t>
            </a: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</a:t>
            </a:r>
            <a:r>
              <a:rPr lang="en-US" sz="1500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decisions involve husband input or control, highlighting the persistence of patriarchal household structures in Cameroon.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Factors: Husband-Only vs Woman Alone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224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Multinomial logistic regression — Reference: Woman decides alone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1879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9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PROTECTIVE FACTORS (RRR &lt; 1)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60600"/>
          <a:ext cx="7112000" cy="3048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Characteristic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RRR (95% CI)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Cohabiting (vs. Married)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0.382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62% lower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 25–29 (vs. 15–19)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0.357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64% lower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 35–39 (vs. 15–19)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0.343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66% lower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 40–44 (vs. 15–19)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0.321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68% lower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Working (vs. Not working)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39% less likely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5524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FACTORS (RRR &gt; 1)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05500"/>
          <a:ext cx="7112000" cy="22225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Characteristic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RRR (95% CI)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ANC visits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3.216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3.2x higher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North region (vs. Adamawa)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4.005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4x higher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North-West region (vs. Adamawa)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5.4x higher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382000" y="1879600"/>
            <a:ext cx="7112000" cy="679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99500" y="20701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Interpretations</a:t>
            </a:r>
            <a:endParaRPr lang="en-US" sz="2200" dirty="0"/>
          </a:p>
        </p:txBody>
      </p:sp>
      <p:sp>
        <p:nvSpPr>
          <p:cNvPr id="14" name="Shape 13"/>
          <p:cNvSpPr/>
          <p:nvPr/>
        </p:nvSpPr>
        <p:spPr>
          <a:xfrm>
            <a:off x="8699500" y="2514600"/>
            <a:ext cx="508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8" name="Text 14"/>
          <p:cNvSpPr/>
          <p:nvPr/>
        </p:nvSpPr>
        <p:spPr>
          <a:xfrm>
            <a:off x="8699500" y="2730500"/>
            <a:ext cx="6477000" cy="565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Marital Status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Cohabiting women have 62% lower relative risk of husband-only decisions (RRR=0.382, p&lt;0.001). Formal marriage may reinforce traditional gender hierarchies.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 aged 25–44 have 64–68% lower risk than adolescents, suggesting autonomy increases with age and life experience.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women are 39% less likely to experience husband-only decisions (RRR=0.612, p&lt;0.05). Economic independence enhances reproductive agency.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Effect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 (RRR=4.0) and North-West (RRR=5.4) show dramatically elevated risk, likely reflecting cultural norms and ethnic composition.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Factors: Joint Decision vs Woman Alone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224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Multinomial logistic regression — Reference: Woman decides alone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18796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9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FACTORS INCREASING JOINT DECISIONS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703958"/>
              </p:ext>
            </p:extLst>
          </p:nvPr>
        </p:nvGraphicFramePr>
        <p:xfrm>
          <a:off x="762000" y="2260600"/>
          <a:ext cx="7366000" cy="32385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648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Characteristic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RRR (95% CI)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p-value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Husband: Primary (vs. None)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2.758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Husband: Secondary (vs. None)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2.584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Husband: Higher (vs. None)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2.904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Poorer wealth (vs. Poorest)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1.262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Centre region (vs. Adamawa)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2.995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North-West (vs. Adamawa)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5.090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5715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FACTORS DECREASING JOINT DECISIONS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239545"/>
              </p:ext>
            </p:extLst>
          </p:nvPr>
        </p:nvGraphicFramePr>
        <p:xfrm>
          <a:off x="762000" y="6096000"/>
          <a:ext cx="7366000" cy="2032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Characteristic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RRR (95% CI)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p-value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Partner wants more children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0.333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Working (vs. Not working)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0.638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Partner "don't know" desires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0.383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636000" y="1879600"/>
            <a:ext cx="6858000" cy="624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53500" y="2070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Interpretations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953500" y="2514600"/>
            <a:ext cx="508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8" name="Text 14"/>
          <p:cNvSpPr/>
          <p:nvPr/>
        </p:nvSpPr>
        <p:spPr>
          <a:xfrm>
            <a:off x="8953500" y="2730500"/>
            <a:ext cx="6223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Husband's Education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strongest predictor — women with educated husbands are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2.6–2.9x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likely to report joint decisions. Notably, woman's own education showed no significant association.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Pronatalism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partners want more children, women are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67% less likely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 in joint decisions (RRR=0.333, p&lt;0.001) — the strongest negative association.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Employment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women are 36% less likely to be in joint decisions (RRR=0.638), suggesting economic independence enables independent rather than shared decision-making.</a:t>
            </a:r>
            <a:endParaRPr lang="en-US" sz="1600" dirty="0"/>
          </a:p>
        </p:txBody>
      </p:sp>
      <p:sp>
        <p:nvSpPr>
          <p:cNvPr id="14" name="Text 15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Regional Variations in Decisional Autonomy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224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 Risk Ratios (RRR) compared to Adamawa region (reference)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988403"/>
              </p:ext>
            </p:extLst>
          </p:nvPr>
        </p:nvGraphicFramePr>
        <p:xfrm>
          <a:off x="762000" y="1905000"/>
          <a:ext cx="9906000" cy="5080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8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Husband-Only RRR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p-value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Joint RRR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p-value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Adamawa (Ref)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Centre (without Yaounde)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1.968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2.995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Douala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2.899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2.760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4.005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2.091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North-West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5.430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5.090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1.525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79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2.446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p&lt;0.05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South-West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2.941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3.699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1.188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0.646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Far-North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0.429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0.765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1176000" y="1904999"/>
            <a:ext cx="4826000" cy="5478439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0" y="209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1430000" y="2540000"/>
            <a:ext cx="508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0" y="2794000"/>
            <a:ext cx="3810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North-West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the highest risk for </a:t>
            </a:r>
            <a:r>
              <a:rPr lang="en-US" sz="16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patterns (RRR=5.4 for husband-only, 5.1 for joint)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specific to husband-dominated decisions (RRR=4.0)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Centre, Douala, West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elevated joint decisions only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targeting of interventions is essential different regions need different strategies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7175500"/>
            <a:ext cx="1016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ns = not significant. Only regions with significant associations are highlighted. Adamawa is the reference region.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 Model Performance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COMPARISON (TEST SET)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082800"/>
              </p:ext>
            </p:extLst>
          </p:nvPr>
        </p:nvGraphicFramePr>
        <p:xfrm>
          <a:off x="762000" y="1879600"/>
          <a:ext cx="8318500" cy="3556000"/>
        </p:xfrm>
        <a:graphic>
          <a:graphicData uri="http://schemas.openxmlformats.org/drawingml/2006/table">
            <a:tbl>
              <a:tblPr/>
              <a:tblGrid>
                <a:gridCol w="363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r>
                        <a:rPr lang="en-US" sz="1400" b="1" u="none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 Weighted F1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charset="0"/>
                        </a:rPr>
                        <a:t>Std Deviation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LightGBM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2A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b="1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0.541</a:t>
                      </a:r>
                      <a:endParaRPr lang="en-CM" sz="1600">
                        <a:effectLst/>
                        <a:latin typeface="Quattrocento Sans" panose="020B0502050000020003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2A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b="1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± 0.023</a:t>
                      </a:r>
                      <a:endParaRPr lang="en-CM" sz="1600">
                        <a:effectLst/>
                        <a:latin typeface="Quattrocento Sans" panose="020B0502050000020003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2A">
                        <a:alpha val="1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0.531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± 0.016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dirty="0" err="1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XGBoost</a:t>
                      </a:r>
                      <a:endParaRPr lang="en-CM" sz="1600" dirty="0">
                        <a:effectLst/>
                        <a:latin typeface="Quattrocento Sans" panose="020B0502050000020003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0.534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± 0.038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0.488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± 0.014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AdaBoost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dirty="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dirty="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± 0.040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dirty="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± 0.032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dirty="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0.450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M" sz="1600" dirty="0">
                          <a:effectLst/>
                          <a:latin typeface="Quattrocento Sans" panose="020B0502050000020003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± 0.028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9"/>
          <p:cNvSpPr/>
          <p:nvPr/>
        </p:nvSpPr>
        <p:spPr>
          <a:xfrm>
            <a:off x="10080957" y="1402924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ANALYSIS— LIGHTGBM 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61999" y="5825603"/>
            <a:ext cx="9207501" cy="2937397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 rot="16200000">
            <a:off x="-2270457" y="5651026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ML Findings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99887" y="5841526"/>
            <a:ext cx="8969613" cy="2488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Model: </a:t>
            </a:r>
            <a:r>
              <a:rPr lang="en-US" sz="1600" b="1" dirty="0" err="1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LightGBM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 54.1% accuracy, </a:t>
            </a: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Patterns: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Joint decisions most accurately predicted (80.7% correct). Independent decisions frequently misclassified as joint, suggesting similar predictor profiles.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Corroboration: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predictors (region, husband's education, partner fertility preferences, women's employment) align with regression findings.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43% prediction gap suggests unmeasured factors (psychological, relational, community-level) beyond DHS variables.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15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2DCFCC-2E2D-927B-D109-299C7D4BB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955" y="1816100"/>
            <a:ext cx="5667045" cy="6946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Live ML Demo — Streamlit Application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interactive web application for real-time prediction of women's family planning decisional autonomy in Cameroon.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032000"/>
            <a:ext cx="7112000" cy="6223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7750" y="23495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523875" y="0"/>
                </a:moveTo>
                <a:cubicBezTo>
                  <a:pt x="523875" y="-26343"/>
                  <a:pt x="502593" y="-47625"/>
                  <a:pt x="476250" y="-47625"/>
                </a:cubicBezTo>
                <a:cubicBezTo>
                  <a:pt x="449907" y="-47625"/>
                  <a:pt x="428625" y="-26343"/>
                  <a:pt x="428625" y="0"/>
                </a:cubicBezTo>
                <a:lnTo>
                  <a:pt x="428625" y="95250"/>
                </a:lnTo>
                <a:lnTo>
                  <a:pt x="285750" y="95250"/>
                </a:lnTo>
                <a:cubicBezTo>
                  <a:pt x="206871" y="95250"/>
                  <a:pt x="142875" y="159246"/>
                  <a:pt x="142875" y="238125"/>
                </a:cubicBezTo>
                <a:lnTo>
                  <a:pt x="142875" y="571500"/>
                </a:lnTo>
                <a:cubicBezTo>
                  <a:pt x="142875" y="650379"/>
                  <a:pt x="206871" y="714375"/>
                  <a:pt x="285750" y="714375"/>
                </a:cubicBezTo>
                <a:lnTo>
                  <a:pt x="666750" y="714375"/>
                </a:lnTo>
                <a:cubicBezTo>
                  <a:pt x="745629" y="714375"/>
                  <a:pt x="809625" y="650379"/>
                  <a:pt x="809625" y="571500"/>
                </a:cubicBezTo>
                <a:lnTo>
                  <a:pt x="809625" y="238125"/>
                </a:lnTo>
                <a:cubicBezTo>
                  <a:pt x="809625" y="159246"/>
                  <a:pt x="745629" y="95250"/>
                  <a:pt x="666750" y="95250"/>
                </a:cubicBezTo>
                <a:lnTo>
                  <a:pt x="523875" y="95250"/>
                </a:lnTo>
                <a:lnTo>
                  <a:pt x="523875" y="0"/>
                </a:lnTo>
                <a:close/>
                <a:moveTo>
                  <a:pt x="238125" y="547687"/>
                </a:moveTo>
                <a:cubicBezTo>
                  <a:pt x="238125" y="527893"/>
                  <a:pt x="254050" y="511969"/>
                  <a:pt x="273844" y="511969"/>
                </a:cubicBezTo>
                <a:lnTo>
                  <a:pt x="321469" y="511969"/>
                </a:lnTo>
                <a:cubicBezTo>
                  <a:pt x="341263" y="511969"/>
                  <a:pt x="357188" y="527893"/>
                  <a:pt x="357188" y="547687"/>
                </a:cubicBezTo>
                <a:cubicBezTo>
                  <a:pt x="357188" y="567482"/>
                  <a:pt x="341263" y="583406"/>
                  <a:pt x="321469" y="583406"/>
                </a:cubicBezTo>
                <a:lnTo>
                  <a:pt x="273844" y="583406"/>
                </a:lnTo>
                <a:cubicBezTo>
                  <a:pt x="254050" y="583406"/>
                  <a:pt x="238125" y="567482"/>
                  <a:pt x="238125" y="547687"/>
                </a:cubicBezTo>
                <a:close/>
                <a:moveTo>
                  <a:pt x="416719" y="547687"/>
                </a:moveTo>
                <a:cubicBezTo>
                  <a:pt x="416719" y="527893"/>
                  <a:pt x="432643" y="511969"/>
                  <a:pt x="452438" y="511969"/>
                </a:cubicBezTo>
                <a:lnTo>
                  <a:pt x="500063" y="511969"/>
                </a:lnTo>
                <a:cubicBezTo>
                  <a:pt x="519857" y="511969"/>
                  <a:pt x="535781" y="527893"/>
                  <a:pt x="535781" y="547687"/>
                </a:cubicBezTo>
                <a:cubicBezTo>
                  <a:pt x="535781" y="567482"/>
                  <a:pt x="519857" y="583406"/>
                  <a:pt x="500063" y="583406"/>
                </a:cubicBezTo>
                <a:lnTo>
                  <a:pt x="452438" y="583406"/>
                </a:lnTo>
                <a:cubicBezTo>
                  <a:pt x="432643" y="583406"/>
                  <a:pt x="416719" y="567482"/>
                  <a:pt x="416719" y="547687"/>
                </a:cubicBezTo>
                <a:close/>
                <a:moveTo>
                  <a:pt x="595313" y="547687"/>
                </a:moveTo>
                <a:cubicBezTo>
                  <a:pt x="595313" y="527893"/>
                  <a:pt x="611237" y="511969"/>
                  <a:pt x="631031" y="511969"/>
                </a:cubicBezTo>
                <a:lnTo>
                  <a:pt x="678656" y="511969"/>
                </a:lnTo>
                <a:cubicBezTo>
                  <a:pt x="698450" y="511969"/>
                  <a:pt x="714375" y="527893"/>
                  <a:pt x="714375" y="547687"/>
                </a:cubicBezTo>
                <a:cubicBezTo>
                  <a:pt x="714375" y="567482"/>
                  <a:pt x="698450" y="583406"/>
                  <a:pt x="678656" y="583406"/>
                </a:cubicBezTo>
                <a:lnTo>
                  <a:pt x="631031" y="583406"/>
                </a:lnTo>
                <a:cubicBezTo>
                  <a:pt x="611237" y="583406"/>
                  <a:pt x="595313" y="567482"/>
                  <a:pt x="595313" y="547687"/>
                </a:cubicBezTo>
                <a:close/>
                <a:moveTo>
                  <a:pt x="333375" y="261938"/>
                </a:moveTo>
                <a:cubicBezTo>
                  <a:pt x="372802" y="261938"/>
                  <a:pt x="404813" y="293948"/>
                  <a:pt x="404813" y="333375"/>
                </a:cubicBezTo>
                <a:cubicBezTo>
                  <a:pt x="404813" y="372802"/>
                  <a:pt x="372802" y="404813"/>
                  <a:pt x="333375" y="404813"/>
                </a:cubicBezTo>
                <a:cubicBezTo>
                  <a:pt x="293948" y="404813"/>
                  <a:pt x="261938" y="372802"/>
                  <a:pt x="261938" y="333375"/>
                </a:cubicBezTo>
                <a:cubicBezTo>
                  <a:pt x="261938" y="293948"/>
                  <a:pt x="293948" y="261938"/>
                  <a:pt x="333375" y="261938"/>
                </a:cubicBezTo>
                <a:close/>
                <a:moveTo>
                  <a:pt x="547687" y="333375"/>
                </a:moveTo>
                <a:cubicBezTo>
                  <a:pt x="547687" y="293948"/>
                  <a:pt x="579698" y="261938"/>
                  <a:pt x="619125" y="261938"/>
                </a:cubicBezTo>
                <a:cubicBezTo>
                  <a:pt x="658552" y="261938"/>
                  <a:pt x="690563" y="293948"/>
                  <a:pt x="690563" y="333375"/>
                </a:cubicBezTo>
                <a:cubicBezTo>
                  <a:pt x="690563" y="372802"/>
                  <a:pt x="658552" y="404813"/>
                  <a:pt x="619125" y="404813"/>
                </a:cubicBezTo>
                <a:cubicBezTo>
                  <a:pt x="579698" y="404813"/>
                  <a:pt x="547687" y="372802"/>
                  <a:pt x="547687" y="333375"/>
                </a:cubicBezTo>
                <a:close/>
                <a:moveTo>
                  <a:pt x="95250" y="333375"/>
                </a:moveTo>
                <a:cubicBezTo>
                  <a:pt x="95250" y="307032"/>
                  <a:pt x="73968" y="285750"/>
                  <a:pt x="47625" y="285750"/>
                </a:cubicBezTo>
                <a:cubicBezTo>
                  <a:pt x="21282" y="285750"/>
                  <a:pt x="0" y="307032"/>
                  <a:pt x="0" y="333375"/>
                </a:cubicBezTo>
                <a:lnTo>
                  <a:pt x="0" y="476250"/>
                </a:lnTo>
                <a:cubicBezTo>
                  <a:pt x="0" y="502593"/>
                  <a:pt x="21282" y="523875"/>
                  <a:pt x="47625" y="523875"/>
                </a:cubicBezTo>
                <a:cubicBezTo>
                  <a:pt x="73968" y="523875"/>
                  <a:pt x="95250" y="502593"/>
                  <a:pt x="95250" y="476250"/>
                </a:cubicBezTo>
                <a:lnTo>
                  <a:pt x="95250" y="333375"/>
                </a:lnTo>
                <a:close/>
                <a:moveTo>
                  <a:pt x="904875" y="285750"/>
                </a:moveTo>
                <a:cubicBezTo>
                  <a:pt x="878532" y="285750"/>
                  <a:pt x="857250" y="307032"/>
                  <a:pt x="857250" y="333375"/>
                </a:cubicBezTo>
                <a:lnTo>
                  <a:pt x="857250" y="476250"/>
                </a:lnTo>
                <a:cubicBezTo>
                  <a:pt x="857250" y="502593"/>
                  <a:pt x="878532" y="523875"/>
                  <a:pt x="904875" y="523875"/>
                </a:cubicBezTo>
                <a:cubicBezTo>
                  <a:pt x="931218" y="523875"/>
                  <a:pt x="952500" y="502593"/>
                  <a:pt x="952500" y="476250"/>
                </a:cubicBezTo>
                <a:lnTo>
                  <a:pt x="952500" y="333375"/>
                </a:lnTo>
                <a:cubicBezTo>
                  <a:pt x="952500" y="307032"/>
                  <a:pt x="931218" y="285750"/>
                  <a:pt x="904875" y="285750"/>
                </a:cubicBezTo>
                <a:close/>
              </a:path>
            </a:pathLst>
          </a:custGeom>
          <a:solidFill>
            <a:srgbClr val="C8792A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33020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macGPT Decisional Autonomy Predictor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" y="38735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demographic and socioeconomic characteristics to receive a real-time prediction of the likely decision-making pattern for family planning in Cameroon.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5334000"/>
            <a:ext cx="609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5778500"/>
            <a:ext cx="609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Interactive prediction form with all DHS variables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classification (Woman / Husband / Joint)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SHAP force plot for explainable predictions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performance comparison dashboard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 with Python, scikit-learn, and Streamlit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2032000"/>
            <a:ext cx="7112000" cy="622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63000" y="228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the Application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763000" y="2730500"/>
            <a:ext cx="508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20" name="Shape 18"/>
          <p:cNvSpPr/>
          <p:nvPr/>
        </p:nvSpPr>
        <p:spPr>
          <a:xfrm>
            <a:off x="8763000" y="3048000"/>
            <a:ext cx="6350000" cy="1524000"/>
          </a:xfrm>
          <a:prstGeom prst="rect">
            <a:avLst/>
          </a:prstGeom>
          <a:solidFill>
            <a:srgbClr val="1B4D5C">
              <a:alpha val="627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0170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1B4D5C"/>
          </a:solidFill>
          <a:ln/>
        </p:spPr>
      </p:sp>
      <p:sp>
        <p:nvSpPr>
          <p:cNvPr id="22" name="Text 20"/>
          <p:cNvSpPr/>
          <p:nvPr/>
        </p:nvSpPr>
        <p:spPr>
          <a:xfrm>
            <a:off x="9652000" y="3302000"/>
            <a:ext cx="520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STREAMLIT 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0" y="36830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u="sng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macgpt-congenial-winner.streamlit.app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63000" y="4889500"/>
            <a:ext cx="6350000" cy="1524000"/>
          </a:xfrm>
          <a:prstGeom prst="rect">
            <a:avLst/>
          </a:prstGeom>
          <a:solidFill>
            <a:srgbClr val="1B4D5C">
              <a:alpha val="627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17000" y="527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5287" y="354866"/>
                </a:moveTo>
                <a:cubicBezTo>
                  <a:pt x="155287" y="356652"/>
                  <a:pt x="153233" y="358080"/>
                  <a:pt x="150644" y="358080"/>
                </a:cubicBezTo>
                <a:cubicBezTo>
                  <a:pt x="147697" y="358348"/>
                  <a:pt x="145643" y="356920"/>
                  <a:pt x="145643" y="354866"/>
                </a:cubicBezTo>
                <a:cubicBezTo>
                  <a:pt x="145643" y="353080"/>
                  <a:pt x="147697" y="351651"/>
                  <a:pt x="150287" y="351651"/>
                </a:cubicBezTo>
                <a:cubicBezTo>
                  <a:pt x="152966" y="351383"/>
                  <a:pt x="155287" y="352812"/>
                  <a:pt x="155287" y="354866"/>
                </a:cubicBezTo>
                <a:close/>
                <a:moveTo>
                  <a:pt x="127516" y="350847"/>
                </a:moveTo>
                <a:cubicBezTo>
                  <a:pt x="126891" y="352633"/>
                  <a:pt x="128677" y="354687"/>
                  <a:pt x="131356" y="355223"/>
                </a:cubicBezTo>
                <a:cubicBezTo>
                  <a:pt x="133677" y="356116"/>
                  <a:pt x="136356" y="355223"/>
                  <a:pt x="136892" y="353437"/>
                </a:cubicBezTo>
                <a:cubicBezTo>
                  <a:pt x="137428" y="351651"/>
                  <a:pt x="135731" y="349597"/>
                  <a:pt x="133052" y="348794"/>
                </a:cubicBezTo>
                <a:cubicBezTo>
                  <a:pt x="130731" y="348169"/>
                  <a:pt x="128141" y="349061"/>
                  <a:pt x="127516" y="350847"/>
                </a:cubicBezTo>
                <a:close/>
                <a:moveTo>
                  <a:pt x="166985" y="349329"/>
                </a:moveTo>
                <a:cubicBezTo>
                  <a:pt x="164396" y="349954"/>
                  <a:pt x="162610" y="351651"/>
                  <a:pt x="162877" y="353705"/>
                </a:cubicBezTo>
                <a:cubicBezTo>
                  <a:pt x="163145" y="355491"/>
                  <a:pt x="165467" y="356652"/>
                  <a:pt x="168146" y="356027"/>
                </a:cubicBezTo>
                <a:cubicBezTo>
                  <a:pt x="170736" y="355402"/>
                  <a:pt x="172522" y="353705"/>
                  <a:pt x="172254" y="351919"/>
                </a:cubicBezTo>
                <a:cubicBezTo>
                  <a:pt x="171986" y="350222"/>
                  <a:pt x="169575" y="349061"/>
                  <a:pt x="166985" y="349329"/>
                </a:cubicBezTo>
                <a:close/>
                <a:moveTo>
                  <a:pt x="225743" y="7144"/>
                </a:moveTo>
                <a:cubicBezTo>
                  <a:pt x="101888" y="7144"/>
                  <a:pt x="7144" y="101173"/>
                  <a:pt x="7144" y="225028"/>
                </a:cubicBezTo>
                <a:cubicBezTo>
                  <a:pt x="7144" y="324058"/>
                  <a:pt x="69473" y="408801"/>
                  <a:pt x="158502" y="438626"/>
                </a:cubicBezTo>
                <a:cubicBezTo>
                  <a:pt x="169932" y="440680"/>
                  <a:pt x="173950" y="433626"/>
                  <a:pt x="173950" y="427821"/>
                </a:cubicBezTo>
                <a:cubicBezTo>
                  <a:pt x="173950" y="422285"/>
                  <a:pt x="173682" y="391745"/>
                  <a:pt x="173682" y="372993"/>
                </a:cubicBezTo>
                <a:cubicBezTo>
                  <a:pt x="173682" y="372993"/>
                  <a:pt x="111175" y="386388"/>
                  <a:pt x="98048" y="346383"/>
                </a:cubicBezTo>
                <a:cubicBezTo>
                  <a:pt x="98048" y="346383"/>
                  <a:pt x="87868" y="320397"/>
                  <a:pt x="73223" y="313700"/>
                </a:cubicBezTo>
                <a:cubicBezTo>
                  <a:pt x="73223" y="313700"/>
                  <a:pt x="52774" y="299680"/>
                  <a:pt x="74652" y="299948"/>
                </a:cubicBezTo>
                <a:cubicBezTo>
                  <a:pt x="74652" y="299948"/>
                  <a:pt x="96887" y="301734"/>
                  <a:pt x="109121" y="322987"/>
                </a:cubicBezTo>
                <a:cubicBezTo>
                  <a:pt x="128677" y="357455"/>
                  <a:pt x="161449" y="347543"/>
                  <a:pt x="174218" y="341650"/>
                </a:cubicBezTo>
                <a:cubicBezTo>
                  <a:pt x="176272" y="327362"/>
                  <a:pt x="182076" y="317450"/>
                  <a:pt x="188506" y="311557"/>
                </a:cubicBezTo>
                <a:cubicBezTo>
                  <a:pt x="138589" y="306020"/>
                  <a:pt x="88225" y="298787"/>
                  <a:pt x="88225" y="212884"/>
                </a:cubicBezTo>
                <a:cubicBezTo>
                  <a:pt x="88225" y="188327"/>
                  <a:pt x="95012" y="176004"/>
                  <a:pt x="109299" y="160288"/>
                </a:cubicBezTo>
                <a:cubicBezTo>
                  <a:pt x="106978" y="154484"/>
                  <a:pt x="99387" y="130552"/>
                  <a:pt x="111621" y="99655"/>
                </a:cubicBezTo>
                <a:cubicBezTo>
                  <a:pt x="130284" y="93851"/>
                  <a:pt x="173236" y="123765"/>
                  <a:pt x="173236" y="123765"/>
                </a:cubicBezTo>
                <a:cubicBezTo>
                  <a:pt x="191095" y="118765"/>
                  <a:pt x="210294" y="116175"/>
                  <a:pt x="229314" y="116175"/>
                </a:cubicBezTo>
                <a:cubicBezTo>
                  <a:pt x="248335" y="116175"/>
                  <a:pt x="267533" y="118765"/>
                  <a:pt x="285393" y="123765"/>
                </a:cubicBezTo>
                <a:cubicBezTo>
                  <a:pt x="285393" y="123765"/>
                  <a:pt x="328345" y="93762"/>
                  <a:pt x="347008" y="99655"/>
                </a:cubicBezTo>
                <a:cubicBezTo>
                  <a:pt x="359241" y="130641"/>
                  <a:pt x="351651" y="154484"/>
                  <a:pt x="349329" y="160288"/>
                </a:cubicBezTo>
                <a:cubicBezTo>
                  <a:pt x="363617" y="176093"/>
                  <a:pt x="372368" y="188416"/>
                  <a:pt x="372368" y="212884"/>
                </a:cubicBezTo>
                <a:cubicBezTo>
                  <a:pt x="372368" y="299055"/>
                  <a:pt x="319772" y="305931"/>
                  <a:pt x="269855" y="311557"/>
                </a:cubicBezTo>
                <a:cubicBezTo>
                  <a:pt x="278070" y="318611"/>
                  <a:pt x="285036" y="332006"/>
                  <a:pt x="285036" y="352991"/>
                </a:cubicBezTo>
                <a:cubicBezTo>
                  <a:pt x="285036" y="383084"/>
                  <a:pt x="284768" y="420320"/>
                  <a:pt x="284768" y="427643"/>
                </a:cubicBezTo>
                <a:cubicBezTo>
                  <a:pt x="284768" y="433447"/>
                  <a:pt x="288875" y="440501"/>
                  <a:pt x="300216" y="438448"/>
                </a:cubicBezTo>
                <a:cubicBezTo>
                  <a:pt x="389513" y="408801"/>
                  <a:pt x="450056" y="324058"/>
                  <a:pt x="450056" y="225028"/>
                </a:cubicBezTo>
                <a:cubicBezTo>
                  <a:pt x="450056" y="101173"/>
                  <a:pt x="349597" y="7144"/>
                  <a:pt x="225743" y="7144"/>
                </a:cubicBezTo>
                <a:close/>
                <a:moveTo>
                  <a:pt x="93940" y="315129"/>
                </a:moveTo>
                <a:cubicBezTo>
                  <a:pt x="92779" y="316022"/>
                  <a:pt x="93047" y="318075"/>
                  <a:pt x="94565" y="319772"/>
                </a:cubicBezTo>
                <a:cubicBezTo>
                  <a:pt x="95994" y="321201"/>
                  <a:pt x="98048" y="321826"/>
                  <a:pt x="99209" y="320665"/>
                </a:cubicBezTo>
                <a:cubicBezTo>
                  <a:pt x="100370" y="319772"/>
                  <a:pt x="100102" y="317718"/>
                  <a:pt x="98584" y="316022"/>
                </a:cubicBezTo>
                <a:cubicBezTo>
                  <a:pt x="97155" y="314593"/>
                  <a:pt x="95101" y="313968"/>
                  <a:pt x="93940" y="315129"/>
                </a:cubicBezTo>
                <a:close/>
                <a:moveTo>
                  <a:pt x="84296" y="307896"/>
                </a:moveTo>
                <a:cubicBezTo>
                  <a:pt x="83671" y="309056"/>
                  <a:pt x="84564" y="310485"/>
                  <a:pt x="86350" y="311378"/>
                </a:cubicBezTo>
                <a:cubicBezTo>
                  <a:pt x="87779" y="312271"/>
                  <a:pt x="89565" y="312003"/>
                  <a:pt x="90190" y="310753"/>
                </a:cubicBezTo>
                <a:cubicBezTo>
                  <a:pt x="90815" y="309592"/>
                  <a:pt x="89922" y="308164"/>
                  <a:pt x="88136" y="307271"/>
                </a:cubicBezTo>
                <a:cubicBezTo>
                  <a:pt x="86350" y="306735"/>
                  <a:pt x="84921" y="307003"/>
                  <a:pt x="84296" y="307896"/>
                </a:cubicBezTo>
                <a:close/>
                <a:moveTo>
                  <a:pt x="113228" y="339685"/>
                </a:moveTo>
                <a:cubicBezTo>
                  <a:pt x="111800" y="340846"/>
                  <a:pt x="112335" y="343525"/>
                  <a:pt x="114389" y="345222"/>
                </a:cubicBezTo>
                <a:cubicBezTo>
                  <a:pt x="116443" y="347276"/>
                  <a:pt x="119033" y="347543"/>
                  <a:pt x="120194" y="346115"/>
                </a:cubicBezTo>
                <a:cubicBezTo>
                  <a:pt x="121354" y="344954"/>
                  <a:pt x="120819" y="342275"/>
                  <a:pt x="119033" y="340578"/>
                </a:cubicBezTo>
                <a:cubicBezTo>
                  <a:pt x="117068" y="338524"/>
                  <a:pt x="114389" y="338257"/>
                  <a:pt x="113228" y="339685"/>
                </a:cubicBezTo>
                <a:close/>
                <a:moveTo>
                  <a:pt x="103049" y="326559"/>
                </a:moveTo>
                <a:cubicBezTo>
                  <a:pt x="101620" y="327452"/>
                  <a:pt x="101620" y="329773"/>
                  <a:pt x="103049" y="331827"/>
                </a:cubicBezTo>
                <a:cubicBezTo>
                  <a:pt x="104477" y="333881"/>
                  <a:pt x="106888" y="334774"/>
                  <a:pt x="108049" y="333881"/>
                </a:cubicBezTo>
                <a:cubicBezTo>
                  <a:pt x="109478" y="332720"/>
                  <a:pt x="109478" y="330398"/>
                  <a:pt x="108049" y="328345"/>
                </a:cubicBezTo>
                <a:cubicBezTo>
                  <a:pt x="106799" y="326291"/>
                  <a:pt x="104477" y="325398"/>
                  <a:pt x="103049" y="326559"/>
                </a:cubicBezTo>
                <a:close/>
              </a:path>
            </a:pathLst>
          </a:custGeom>
          <a:solidFill>
            <a:srgbClr val="1B4D5C"/>
          </a:solidFill>
          <a:ln/>
        </p:spPr>
      </p:sp>
      <p:sp>
        <p:nvSpPr>
          <p:cNvPr id="26" name="Text 24"/>
          <p:cNvSpPr/>
          <p:nvPr/>
        </p:nvSpPr>
        <p:spPr>
          <a:xfrm>
            <a:off x="9652000" y="5143500"/>
            <a:ext cx="520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CODE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52000" y="55245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u="sng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github.com/Enow-brenda/congenial-winner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3000" y="6731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application demonstrates the practical utility of the machine learning model by allowing users to explore how different demographic factors influence predicted decisional autonomy outcomes.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Discussion: Key Insights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1755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24000"/>
            <a:ext cx="63500" cy="22225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651000"/>
            <a:ext cx="666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Husband's Education is the Critical Factor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057400"/>
            <a:ext cx="666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 with educated husbands are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2.6–2.9x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likely to report joint decisions. Notably,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woman's own education was not significant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highlighting that male educational attainment is the critical factor for couple communication about family planning.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18500" y="1524000"/>
            <a:ext cx="71755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8500" y="1524000"/>
            <a:ext cx="63500" cy="22225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0" y="1651000"/>
            <a:ext cx="666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Cohabiting Women Have More Autonomy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2057400"/>
            <a:ext cx="666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Cohabiting women had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62% lower risk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husband-only decisions (RRR=0.382). Formal marriage may reinforce traditional gender hierarchies where husbands are positioned as primary decision-makers, while cohabiting unions offer more flexible dynamics.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000500"/>
            <a:ext cx="71755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" y="4000500"/>
            <a:ext cx="63500" cy="22225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127500"/>
            <a:ext cx="666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Pronatalism is a Major Barrier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533900"/>
            <a:ext cx="666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partners want more children, women are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67% less likely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 in joint decisions (RRR=0.333) and more likely to experience husband-only decisions. Fertility preference discordance within couples substantially constrains women's reproductive agency.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18500" y="4000500"/>
            <a:ext cx="71755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18500" y="4000500"/>
            <a:ext cx="63500" cy="22225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24" name="Text 22"/>
          <p:cNvSpPr/>
          <p:nvPr/>
        </p:nvSpPr>
        <p:spPr>
          <a:xfrm>
            <a:off x="8572500" y="4127500"/>
            <a:ext cx="666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Employment Enables Independence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72500" y="4533900"/>
            <a:ext cx="666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women were protected against </a:t>
            </a:r>
            <a:r>
              <a:rPr lang="en-US" sz="15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husband-only (RRR=0.612) and joint (RRR=0.638) decision-making, suggesting economic independence enables women to make decisions independently rather than sharing or ceding control.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477000"/>
            <a:ext cx="14732000" cy="177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6604000"/>
            <a:ext cx="140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+ ML Convergence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9500" y="7048500"/>
            <a:ext cx="1409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analytical approaches converged on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region, husband's education, partner's fertility preferences, and women's employment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the most robust predictors. The modest ML predictive performance (54% accuracy) suggests that decisional autonomy is inherently complex and influenced by unmeasured psychological, relational, and community-level factors beyond DHS variables.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6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4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0" y="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ML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0" y="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D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 &amp; Recommendations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RECOMMENDATIONS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19050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" y="2057400"/>
            <a:ext cx="406400" cy="4064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057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" y="2057400"/>
            <a:ext cx="3746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Male Partner Education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" y="2438400"/>
            <a:ext cx="374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 programs should include male educational components and target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couples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women alone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78500" y="19050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9000" y="2057400"/>
            <a:ext cx="406400" cy="4064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18" name="Text 16"/>
          <p:cNvSpPr/>
          <p:nvPr/>
        </p:nvSpPr>
        <p:spPr>
          <a:xfrm>
            <a:off x="5969000" y="2057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5100" y="2057400"/>
            <a:ext cx="3746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Couple-Based Fertility Counseling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5100" y="2438400"/>
            <a:ext cx="374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 fertility preference discordance through couple-based counseling on family size preferences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19050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85500" y="2057400"/>
            <a:ext cx="406400" cy="4064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23" name="Text 21"/>
          <p:cNvSpPr/>
          <p:nvPr/>
        </p:nvSpPr>
        <p:spPr>
          <a:xfrm>
            <a:off x="10985500" y="2057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31600" y="2057400"/>
            <a:ext cx="3746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 Empowerment Programs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31600" y="2438400"/>
            <a:ext cx="374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 in women's economic opportunities to enhance household negotiating power and reproductive agency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3746500"/>
            <a:ext cx="7112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500" y="3898900"/>
            <a:ext cx="406400" cy="4064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38989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" y="3898900"/>
            <a:ext cx="609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ANC-Based Family Planning Counseling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" y="42799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facilities should systematically provide FP counseling to all women attending ANC services. No ANC was associated with 3.2x higher risk of husband-only decisions.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8500" y="3746500"/>
            <a:ext cx="71755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9000" y="3898900"/>
            <a:ext cx="406400" cy="406400"/>
          </a:xfrm>
          <a:prstGeom prst="ellipse">
            <a:avLst/>
          </a:prstGeom>
          <a:solidFill>
            <a:srgbClr val="C8792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9000" y="38989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55100" y="3898900"/>
            <a:ext cx="6159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Targeting of Interventions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55100" y="4279900"/>
            <a:ext cx="615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North and North-West for husband-dominated decisions; Centre, Douala, and West for promoting joint decision-making.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5651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6032500"/>
            <a:ext cx="14732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E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6000" y="62230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Cross-sectional design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precludes causal inference associations reflect correlations to be interpreted cautiously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Domestic violence module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could not be included due to high missingness, potentially omitting an important determinant of reproductive coercion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 decision-making variables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(v743a-f) were excluded given conceptual proximity to the outcome variable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Cluster-level variables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might justify multilevel modelling were not explored in this analysis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76091160550-2173dba999ef?q=80&amp;w=2070&amp;auto=format&amp;fit=crop"/>
          <p:cNvPicPr>
            <a:picLocks noChangeAspect="1"/>
          </p:cNvPicPr>
          <p:nvPr/>
        </p:nvPicPr>
        <p:blipFill>
          <a:blip r:embed="rId3"/>
          <a:srcRect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D5C">
                  <a:alpha val="19000"/>
                </a:srgbClr>
              </a:gs>
              <a:gs pos="30000">
                <a:srgbClr val="1B4D5C">
                  <a:alpha val="69000"/>
                </a:srgbClr>
              </a:gs>
              <a:gs pos="70000">
                <a:srgbClr val="1B4D5C">
                  <a:alpha val="91000"/>
                </a:srgbClr>
              </a:gs>
              <a:gs pos="100000">
                <a:srgbClr val="1B4D5C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540000" y="2286000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3492500"/>
            <a:ext cx="2540000" cy="38100"/>
          </a:xfrm>
          <a:prstGeom prst="rect">
            <a:avLst/>
          </a:prstGeom>
          <a:solidFill>
            <a:srgbClr val="C8792A"/>
          </a:solidFill>
          <a:ln/>
        </p:spPr>
      </p:sp>
      <p:sp>
        <p:nvSpPr>
          <p:cNvPr id="6" name="Text 3"/>
          <p:cNvSpPr/>
          <p:nvPr/>
        </p:nvSpPr>
        <p:spPr>
          <a:xfrm>
            <a:off x="2540000" y="3746500"/>
            <a:ext cx="1117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study contributes to the growing evidence base on women's reproductive autonomy in Central Africa, providing actionable insights for policy and programme design.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18000" y="5080000"/>
            <a:ext cx="7620000" cy="228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699000" y="5270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99000" y="5715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u="sng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99000" y="6223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879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u="sng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 Predictor App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99000" y="6731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Cameroon DHS 2018 | N = 1,533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8792A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2257</Words>
  <Application>Microsoft Office PowerPoint</Application>
  <PresentationFormat>Custom</PresentationFormat>
  <Paragraphs>426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QuattrocentoSans</vt:lpstr>
      <vt:lpstr>Arial</vt:lpstr>
      <vt:lpstr>Quattrocento Sans</vt:lpstr>
      <vt:lpstr>Oranienbaum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Women's Decisional Autonomy in Family Planning - Cameroon</dc:title>
  <dc:subject>Women's Decisional Autonomy in Family Planning - Cameroon</dc:subject>
  <dc:creator>Kimi</dc:creator>
  <cp:lastModifiedBy>ENOW BRENDA</cp:lastModifiedBy>
  <cp:revision>11</cp:revision>
  <dcterms:created xsi:type="dcterms:W3CDTF">2026-06-06T04:07:38Z</dcterms:created>
  <dcterms:modified xsi:type="dcterms:W3CDTF">2026-06-24T13:16:55Z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{"Label":"Women's Decisional Autonomy in Family Planning - Cameroon","ContentProducer":"001191110108MACG2KBH8F10000","ProduceID":"19e9b18c-c242-8e14-8000-00006dfd2cb4","ReservedCode1":"","ContentPropagator":"001191110108MACG2KBH8F20000","PropagateID":"19e9b18c-c242-8e14-8000-00006dfd2cb4","ReservedCode2":""}</vt:lpwstr>
  </property>
</Properties>
</file>