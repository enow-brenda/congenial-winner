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Oranienbaum" panose="02000506080000020003" pitchFamily="2" charset="0"/>
      <p:regular r:id="rId15"/>
    </p:embeddedFont>
    <p:embeddedFont>
      <p:font typeface="Quattrocento Sans" panose="020B0502050000020003" pitchFamily="34" charset="0"/>
      <p:regular r:id="rId16"/>
      <p:bold r:id="rId17"/>
    </p:embeddedFont>
  </p:embeddedFontLst>
  <p:defaultTextStyle>
    <a:defPPr>
      <a:defRPr lang="en-C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asters%20stuff\statistique\TP1-Regression\final_regression_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CM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8F8-43A2-B169-A537982A4A6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8F8-43A2-B169-A537982A4A6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8F8-43A2-B169-A537982A4A6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98F8-43A2-B169-A537982A4A68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CM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Table1_Descriptive!$B$112:$B$115</c:f>
              <c:strCache>
                <c:ptCount val="4"/>
                <c:pt idx="0">
                  <c:v>Joint decision</c:v>
                </c:pt>
                <c:pt idx="1">
                  <c:v>Other</c:v>
                </c:pt>
                <c:pt idx="2">
                  <c:v>Partner alone</c:v>
                </c:pt>
                <c:pt idx="3">
                  <c:v>Woman alone</c:v>
                </c:pt>
              </c:strCache>
            </c:strRef>
          </c:cat>
          <c:val>
            <c:numRef>
              <c:f>Table1_Descriptive!$C$112:$C$115</c:f>
              <c:numCache>
                <c:formatCode>General</c:formatCode>
                <c:ptCount val="4"/>
                <c:pt idx="0">
                  <c:v>2798</c:v>
                </c:pt>
                <c:pt idx="1">
                  <c:v>110</c:v>
                </c:pt>
                <c:pt idx="2">
                  <c:v>1627</c:v>
                </c:pt>
                <c:pt idx="3">
                  <c:v>2238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F8-43A2-B169-A537982A4A68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98F8-43A2-B169-A537982A4A6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98F8-43A2-B169-A537982A4A6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98F8-43A2-B169-A537982A4A6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98F8-43A2-B169-A537982A4A68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CM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Table1_Descriptive!$B$112:$B$115</c:f>
              <c:strCache>
                <c:ptCount val="4"/>
                <c:pt idx="0">
                  <c:v>Joint decision</c:v>
                </c:pt>
                <c:pt idx="1">
                  <c:v>Other</c:v>
                </c:pt>
                <c:pt idx="2">
                  <c:v>Partner alone</c:v>
                </c:pt>
                <c:pt idx="3">
                  <c:v>Woman alone</c:v>
                </c:pt>
              </c:strCache>
            </c:strRef>
          </c:cat>
          <c:val>
            <c:numRef>
              <c:f>Table1_Descriptive!$D$112:$D$115</c:f>
              <c:numCache>
                <c:formatCode>0.0</c:formatCode>
                <c:ptCount val="4"/>
                <c:pt idx="0">
                  <c:v>41.3</c:v>
                </c:pt>
                <c:pt idx="1">
                  <c:v>1.6</c:v>
                </c:pt>
                <c:pt idx="2">
                  <c:v>24</c:v>
                </c:pt>
                <c:pt idx="3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98F8-43A2-B169-A537982A4A6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CM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CM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86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ivil-protection-humanitarian-aid.ec.europa.eu/31596dad7e87ead7b3a20bbc88a5f8f8b897481a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A6F7B">
                  <a:alpha val="95000"/>
                </a:srgbClr>
              </a:gs>
              <a:gs pos="50000">
                <a:srgbClr val="5A6F7B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85800" y="1269802"/>
            <a:ext cx="2171700" cy="342900"/>
          </a:xfrm>
          <a:custGeom>
            <a:avLst/>
            <a:gdLst/>
            <a:ahLst/>
            <a:cxnLst/>
            <a:rect l="l" t="t" r="r" b="b"/>
            <a:pathLst>
              <a:path w="2171700" h="342900">
                <a:moveTo>
                  <a:pt x="0" y="0"/>
                </a:moveTo>
                <a:lnTo>
                  <a:pt x="2171700" y="0"/>
                </a:lnTo>
                <a:lnTo>
                  <a:pt x="21717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269802"/>
            <a:ext cx="223837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1841302"/>
            <a:ext cx="7886700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200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Factors Associated with Women's Decisional Autonomy in Family Planning Among Women in Cameroon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441662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683323"/>
            <a:ext cx="7734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5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Multinomial Analysis of the 2018 Demographic and Health Survey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52500" y="535959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51870" y="5359598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03194" y="5359598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85900"/>
            <a:ext cx="3667125" cy="1533525"/>
          </a:xfrm>
          <a:custGeom>
            <a:avLst/>
            <a:gdLst/>
            <a:ahLst/>
            <a:cxnLst/>
            <a:rect l="l" t="t" r="r" b="b"/>
            <a:pathLst>
              <a:path w="3667125" h="1533525">
                <a:moveTo>
                  <a:pt x="38100" y="0"/>
                </a:moveTo>
                <a:lnTo>
                  <a:pt x="3590924" y="0"/>
                </a:lnTo>
                <a:cubicBezTo>
                  <a:pt x="3632981" y="0"/>
                  <a:pt x="3667125" y="34144"/>
                  <a:pt x="3667125" y="76201"/>
                </a:cubicBezTo>
                <a:lnTo>
                  <a:pt x="3667125" y="1457324"/>
                </a:lnTo>
                <a:cubicBezTo>
                  <a:pt x="3667125" y="1499381"/>
                  <a:pt x="3632981" y="1533525"/>
                  <a:pt x="3590924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859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8" name="Text 6"/>
          <p:cNvSpPr/>
          <p:nvPr/>
        </p:nvSpPr>
        <p:spPr>
          <a:xfrm>
            <a:off x="5619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77165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Background &amp; 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247900"/>
            <a:ext cx="3343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Women's reproductive autonomy in Sub-Saharan Africa and the Cameroonian context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73550" y="1485900"/>
            <a:ext cx="3667125" cy="1533525"/>
          </a:xfrm>
          <a:custGeom>
            <a:avLst/>
            <a:gdLst/>
            <a:ahLst/>
            <a:cxnLst/>
            <a:rect l="l" t="t" r="r" b="b"/>
            <a:pathLst>
              <a:path w="3667125" h="1533525">
                <a:moveTo>
                  <a:pt x="38100" y="0"/>
                </a:moveTo>
                <a:lnTo>
                  <a:pt x="3590924" y="0"/>
                </a:lnTo>
                <a:cubicBezTo>
                  <a:pt x="3632981" y="0"/>
                  <a:pt x="3667125" y="34144"/>
                  <a:pt x="3667125" y="76201"/>
                </a:cubicBezTo>
                <a:lnTo>
                  <a:pt x="3667125" y="1457324"/>
                </a:lnTo>
                <a:cubicBezTo>
                  <a:pt x="3667125" y="1499381"/>
                  <a:pt x="3632981" y="1533525"/>
                  <a:pt x="3590924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3550" y="14859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31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4" name="Text 12"/>
          <p:cNvSpPr/>
          <p:nvPr/>
        </p:nvSpPr>
        <p:spPr>
          <a:xfrm>
            <a:off x="44354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54600" y="177165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3100" y="2247900"/>
            <a:ext cx="3343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specific objectives guiding this investigation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47050" y="1485900"/>
            <a:ext cx="3667125" cy="1533525"/>
          </a:xfrm>
          <a:custGeom>
            <a:avLst/>
            <a:gdLst/>
            <a:ahLst/>
            <a:cxnLst/>
            <a:rect l="l" t="t" r="r" b="b"/>
            <a:pathLst>
              <a:path w="3667125" h="1533525">
                <a:moveTo>
                  <a:pt x="38100" y="0"/>
                </a:moveTo>
                <a:lnTo>
                  <a:pt x="3590924" y="0"/>
                </a:lnTo>
                <a:cubicBezTo>
                  <a:pt x="3632981" y="0"/>
                  <a:pt x="3667125" y="34144"/>
                  <a:pt x="3667125" y="76201"/>
                </a:cubicBezTo>
                <a:lnTo>
                  <a:pt x="3667125" y="1457324"/>
                </a:lnTo>
                <a:cubicBezTo>
                  <a:pt x="3667125" y="1499381"/>
                  <a:pt x="3632981" y="1533525"/>
                  <a:pt x="3590924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47050" y="14859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9" name="Shape 17"/>
          <p:cNvSpPr/>
          <p:nvPr/>
        </p:nvSpPr>
        <p:spPr>
          <a:xfrm>
            <a:off x="83566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975" y="16764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28100" y="177165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6600" y="2247900"/>
            <a:ext cx="3343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source, study design, and analytical approach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3213100"/>
            <a:ext cx="3667125" cy="1533525"/>
          </a:xfrm>
          <a:custGeom>
            <a:avLst/>
            <a:gdLst/>
            <a:ahLst/>
            <a:cxnLst/>
            <a:rect l="l" t="t" r="r" b="b"/>
            <a:pathLst>
              <a:path w="3667125" h="1533525">
                <a:moveTo>
                  <a:pt x="38100" y="0"/>
                </a:moveTo>
                <a:lnTo>
                  <a:pt x="3590924" y="0"/>
                </a:lnTo>
                <a:cubicBezTo>
                  <a:pt x="3632981" y="0"/>
                  <a:pt x="3667125" y="34144"/>
                  <a:pt x="3667125" y="76201"/>
                </a:cubicBezTo>
                <a:lnTo>
                  <a:pt x="3667125" y="1457324"/>
                </a:lnTo>
                <a:cubicBezTo>
                  <a:pt x="3667125" y="1499381"/>
                  <a:pt x="3632981" y="1533525"/>
                  <a:pt x="3590924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0050" y="32131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340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" y="3403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1100" y="349885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Sample Characteristics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9600" y="3975100"/>
            <a:ext cx="3343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Sociodemographic profile of 6,546 married women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73550" y="3213100"/>
            <a:ext cx="3667125" cy="1533525"/>
          </a:xfrm>
          <a:custGeom>
            <a:avLst/>
            <a:gdLst/>
            <a:ahLst/>
            <a:cxnLst/>
            <a:rect l="l" t="t" r="r" b="b"/>
            <a:pathLst>
              <a:path w="3667125" h="1533525">
                <a:moveTo>
                  <a:pt x="38100" y="0"/>
                </a:moveTo>
                <a:lnTo>
                  <a:pt x="3590924" y="0"/>
                </a:lnTo>
                <a:cubicBezTo>
                  <a:pt x="3632981" y="0"/>
                  <a:pt x="3667125" y="34144"/>
                  <a:pt x="3667125" y="76201"/>
                </a:cubicBezTo>
                <a:lnTo>
                  <a:pt x="3667125" y="1457324"/>
                </a:lnTo>
                <a:cubicBezTo>
                  <a:pt x="3667125" y="1499381"/>
                  <a:pt x="3632981" y="1533525"/>
                  <a:pt x="3590924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73550" y="32131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31" name="Shape 29"/>
          <p:cNvSpPr/>
          <p:nvPr/>
        </p:nvSpPr>
        <p:spPr>
          <a:xfrm>
            <a:off x="4483100" y="340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32" name="Text 30"/>
          <p:cNvSpPr/>
          <p:nvPr/>
        </p:nvSpPr>
        <p:spPr>
          <a:xfrm>
            <a:off x="4435475" y="3403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54600" y="349885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Decisional Autonomy Distribution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83100" y="3975100"/>
            <a:ext cx="3343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decides on family planning in Cameroonian households?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47050" y="3213100"/>
            <a:ext cx="3667125" cy="1533525"/>
          </a:xfrm>
          <a:custGeom>
            <a:avLst/>
            <a:gdLst/>
            <a:ahLst/>
            <a:cxnLst/>
            <a:rect l="l" t="t" r="r" b="b"/>
            <a:pathLst>
              <a:path w="3667125" h="1533525">
                <a:moveTo>
                  <a:pt x="38100" y="0"/>
                </a:moveTo>
                <a:lnTo>
                  <a:pt x="3590924" y="0"/>
                </a:lnTo>
                <a:cubicBezTo>
                  <a:pt x="3632981" y="0"/>
                  <a:pt x="3667125" y="34144"/>
                  <a:pt x="3667125" y="76201"/>
                </a:cubicBezTo>
                <a:lnTo>
                  <a:pt x="3667125" y="1457324"/>
                </a:lnTo>
                <a:cubicBezTo>
                  <a:pt x="3667125" y="1499381"/>
                  <a:pt x="3632981" y="1533525"/>
                  <a:pt x="3590924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47050" y="32131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7" name="Shape 35"/>
          <p:cNvSpPr/>
          <p:nvPr/>
        </p:nvSpPr>
        <p:spPr>
          <a:xfrm>
            <a:off x="8356600" y="340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8" name="Text 36"/>
          <p:cNvSpPr/>
          <p:nvPr/>
        </p:nvSpPr>
        <p:spPr>
          <a:xfrm>
            <a:off x="8308975" y="3403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28100" y="34988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Factors: Husband-Only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56600" y="3975100"/>
            <a:ext cx="3343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Determinants of male-dominated decision-making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4940301"/>
            <a:ext cx="3667125" cy="1533525"/>
          </a:xfrm>
          <a:custGeom>
            <a:avLst/>
            <a:gdLst/>
            <a:ahLst/>
            <a:cxnLst/>
            <a:rect l="l" t="t" r="r" b="b"/>
            <a:pathLst>
              <a:path w="3667125" h="1533525">
                <a:moveTo>
                  <a:pt x="38100" y="0"/>
                </a:moveTo>
                <a:lnTo>
                  <a:pt x="3590924" y="0"/>
                </a:lnTo>
                <a:cubicBezTo>
                  <a:pt x="3632981" y="0"/>
                  <a:pt x="3667125" y="34144"/>
                  <a:pt x="3667125" y="76201"/>
                </a:cubicBezTo>
                <a:lnTo>
                  <a:pt x="3667125" y="1457324"/>
                </a:lnTo>
                <a:cubicBezTo>
                  <a:pt x="3667125" y="1499381"/>
                  <a:pt x="3632981" y="1533525"/>
                  <a:pt x="3590924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00050" y="4940301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51308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44" name="Text 42"/>
          <p:cNvSpPr/>
          <p:nvPr/>
        </p:nvSpPr>
        <p:spPr>
          <a:xfrm>
            <a:off x="561975" y="513080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1100" y="5226051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Factors: Joint Decision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09600" y="5702301"/>
            <a:ext cx="3343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promotes shared reproductive agency?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73550" y="4940301"/>
            <a:ext cx="3667125" cy="1533525"/>
          </a:xfrm>
          <a:custGeom>
            <a:avLst/>
            <a:gdLst/>
            <a:ahLst/>
            <a:cxnLst/>
            <a:rect l="l" t="t" r="r" b="b"/>
            <a:pathLst>
              <a:path w="3667125" h="1533525">
                <a:moveTo>
                  <a:pt x="38100" y="0"/>
                </a:moveTo>
                <a:lnTo>
                  <a:pt x="3590924" y="0"/>
                </a:lnTo>
                <a:cubicBezTo>
                  <a:pt x="3632981" y="0"/>
                  <a:pt x="3667125" y="34144"/>
                  <a:pt x="3667125" y="76201"/>
                </a:cubicBezTo>
                <a:lnTo>
                  <a:pt x="3667125" y="1457324"/>
                </a:lnTo>
                <a:cubicBezTo>
                  <a:pt x="3667125" y="1499381"/>
                  <a:pt x="3632981" y="1533525"/>
                  <a:pt x="3590924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273550" y="4940301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3100" y="51308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50" name="Text 48"/>
          <p:cNvSpPr/>
          <p:nvPr/>
        </p:nvSpPr>
        <p:spPr>
          <a:xfrm>
            <a:off x="4435475" y="513080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054600" y="5226051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Discussion &amp; Implications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483100" y="5702301"/>
            <a:ext cx="3343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 from the multinomial analysis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47050" y="4940301"/>
            <a:ext cx="3667125" cy="1533525"/>
          </a:xfrm>
          <a:custGeom>
            <a:avLst/>
            <a:gdLst/>
            <a:ahLst/>
            <a:cxnLst/>
            <a:rect l="l" t="t" r="r" b="b"/>
            <a:pathLst>
              <a:path w="3667125" h="1533525">
                <a:moveTo>
                  <a:pt x="38100" y="0"/>
                </a:moveTo>
                <a:lnTo>
                  <a:pt x="3590924" y="0"/>
                </a:lnTo>
                <a:cubicBezTo>
                  <a:pt x="3632981" y="0"/>
                  <a:pt x="3667125" y="34144"/>
                  <a:pt x="3667125" y="76201"/>
                </a:cubicBezTo>
                <a:lnTo>
                  <a:pt x="3667125" y="1457324"/>
                </a:lnTo>
                <a:cubicBezTo>
                  <a:pt x="3667125" y="1499381"/>
                  <a:pt x="3632981" y="1533525"/>
                  <a:pt x="3590924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147050" y="4940301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5" name="Shape 53"/>
          <p:cNvSpPr/>
          <p:nvPr/>
        </p:nvSpPr>
        <p:spPr>
          <a:xfrm>
            <a:off x="8356600" y="51308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6" name="Text 54"/>
          <p:cNvSpPr/>
          <p:nvPr/>
        </p:nvSpPr>
        <p:spPr>
          <a:xfrm>
            <a:off x="8308975" y="513080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928100" y="5226051"/>
            <a:ext cx="259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Conclusions &amp; Recommendations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56600" y="5702301"/>
            <a:ext cx="3343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implications for reproductive health programmes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Women's Reproductive Autonomy in Sub-Saharan Africa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2872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19225"/>
            <a:ext cx="7219950" cy="2362200"/>
          </a:xfrm>
          <a:custGeom>
            <a:avLst/>
            <a:gdLst/>
            <a:ahLst/>
            <a:cxnLst/>
            <a:rect l="l" t="t" r="r" b="b"/>
            <a:pathLst>
              <a:path w="7219950" h="2362200">
                <a:moveTo>
                  <a:pt x="38100" y="0"/>
                </a:moveTo>
                <a:lnTo>
                  <a:pt x="7143745" y="0"/>
                </a:lnTo>
                <a:cubicBezTo>
                  <a:pt x="7185804" y="0"/>
                  <a:pt x="7219950" y="34146"/>
                  <a:pt x="7219950" y="76205"/>
                </a:cubicBezTo>
                <a:lnTo>
                  <a:pt x="7219950" y="2285995"/>
                </a:lnTo>
                <a:cubicBezTo>
                  <a:pt x="7219950" y="2328082"/>
                  <a:pt x="7185832" y="2362200"/>
                  <a:pt x="7143745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19225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628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1609725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Maternal Health Crisis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990725"/>
            <a:ext cx="6896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Sub-Saharan Africa accounts for 66% of global maternal deaths</a:t>
            </a: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with an estimated </a:t>
            </a:r>
            <a:r>
              <a:rPr lang="en-US" sz="1200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546 maternal deaths per 100,000 live births </a:t>
            </a: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Unplanned pregnancies and short inter-pregnancy intervals remain leading contributors to maternal and child mortality in the region.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847975"/>
            <a:ext cx="6896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Family planning services are recognized as a cornerstone of interventional efforts, contributing to the reduction of maternal and infant morbidity and mortality, prevention of unintended pregnancies, and improvements in household living standards.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933825"/>
            <a:ext cx="7219950" cy="2362200"/>
          </a:xfrm>
          <a:custGeom>
            <a:avLst/>
            <a:gdLst/>
            <a:ahLst/>
            <a:cxnLst/>
            <a:rect l="l" t="t" r="r" b="b"/>
            <a:pathLst>
              <a:path w="7219950" h="2362200">
                <a:moveTo>
                  <a:pt x="38100" y="0"/>
                </a:moveTo>
                <a:lnTo>
                  <a:pt x="7143745" y="0"/>
                </a:lnTo>
                <a:cubicBezTo>
                  <a:pt x="7185804" y="0"/>
                  <a:pt x="7219950" y="34146"/>
                  <a:pt x="7219950" y="76205"/>
                </a:cubicBezTo>
                <a:lnTo>
                  <a:pt x="7219950" y="2285995"/>
                </a:lnTo>
                <a:cubicBezTo>
                  <a:pt x="7219950" y="2328082"/>
                  <a:pt x="7185832" y="2362200"/>
                  <a:pt x="7143745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3933825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41433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4124325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Decision-Making Power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4505325"/>
            <a:ext cx="6896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woman's capacity to make autonomous decisions about contraceptive use is fundamentally linked to her broader sense of empowerment and agency within the household and society. </a:t>
            </a:r>
            <a:r>
              <a:rPr lang="en-US" sz="12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 who experience limited decision-making power are less likely to initiate or maintain contraceptive use</a:t>
            </a: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even when they desire to do so.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5610225"/>
            <a:ext cx="689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interpersonal dimension—particularly partner influence—plays a critical role in determining whether women can freely decide on family planning methods.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10500" y="1419225"/>
            <a:ext cx="4000500" cy="3009900"/>
          </a:xfrm>
          <a:custGeom>
            <a:avLst/>
            <a:gdLst/>
            <a:ahLst/>
            <a:cxnLst/>
            <a:rect l="l" t="t" r="r" b="b"/>
            <a:pathLst>
              <a:path w="4000500" h="3009900">
                <a:moveTo>
                  <a:pt x="76211" y="0"/>
                </a:moveTo>
                <a:lnTo>
                  <a:pt x="3924289" y="0"/>
                </a:lnTo>
                <a:cubicBezTo>
                  <a:pt x="3966379" y="0"/>
                  <a:pt x="4000500" y="34121"/>
                  <a:pt x="4000500" y="76211"/>
                </a:cubicBezTo>
                <a:lnTo>
                  <a:pt x="4000500" y="2933689"/>
                </a:lnTo>
                <a:cubicBezTo>
                  <a:pt x="4000500" y="2975779"/>
                  <a:pt x="3966379" y="3009900"/>
                  <a:pt x="3924289" y="3009900"/>
                </a:cubicBezTo>
                <a:lnTo>
                  <a:pt x="76211" y="3009900"/>
                </a:lnTo>
                <a:cubicBezTo>
                  <a:pt x="34121" y="3009900"/>
                  <a:pt x="0" y="2975779"/>
                  <a:pt x="0" y="293368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18" name="Shape 16"/>
          <p:cNvSpPr/>
          <p:nvPr/>
        </p:nvSpPr>
        <p:spPr>
          <a:xfrm>
            <a:off x="8058150" y="16287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9" name="Text 17"/>
          <p:cNvSpPr/>
          <p:nvPr/>
        </p:nvSpPr>
        <p:spPr>
          <a:xfrm>
            <a:off x="8401050" y="1609725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Cameroonian Context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1990725"/>
            <a:ext cx="3619500" cy="1066800"/>
          </a:xfrm>
          <a:custGeom>
            <a:avLst/>
            <a:gdLst/>
            <a:ahLst/>
            <a:cxnLst/>
            <a:rect l="l" t="t" r="r" b="b"/>
            <a:pathLst>
              <a:path w="3619500" h="1066800">
                <a:moveTo>
                  <a:pt x="76202" y="0"/>
                </a:moveTo>
                <a:lnTo>
                  <a:pt x="3543298" y="0"/>
                </a:lnTo>
                <a:cubicBezTo>
                  <a:pt x="3585383" y="0"/>
                  <a:pt x="3619500" y="34117"/>
                  <a:pt x="3619500" y="76202"/>
                </a:cubicBezTo>
                <a:lnTo>
                  <a:pt x="3619500" y="990598"/>
                </a:lnTo>
                <a:cubicBezTo>
                  <a:pt x="3619500" y="1032683"/>
                  <a:pt x="3585383" y="1066800"/>
                  <a:pt x="35432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115300" y="2105025"/>
            <a:ext cx="714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A8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53%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29861" y="221932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married women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15300" y="2524125"/>
            <a:ext cx="346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household decision-making autonomy—higher than the sub-Saharan African average of 44%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01000" y="3171825"/>
            <a:ext cx="3619500" cy="1066800"/>
          </a:xfrm>
          <a:custGeom>
            <a:avLst/>
            <a:gdLst/>
            <a:ahLst/>
            <a:cxnLst/>
            <a:rect l="l" t="t" r="r" b="b"/>
            <a:pathLst>
              <a:path w="3619500" h="1066800">
                <a:moveTo>
                  <a:pt x="76202" y="0"/>
                </a:moveTo>
                <a:lnTo>
                  <a:pt x="3543298" y="0"/>
                </a:lnTo>
                <a:cubicBezTo>
                  <a:pt x="3585383" y="0"/>
                  <a:pt x="3619500" y="34117"/>
                  <a:pt x="3619500" y="76202"/>
                </a:cubicBezTo>
                <a:lnTo>
                  <a:pt x="3619500" y="990598"/>
                </a:lnTo>
                <a:cubicBezTo>
                  <a:pt x="3619500" y="1032683"/>
                  <a:pt x="3585383" y="1066800"/>
                  <a:pt x="35432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115300" y="3286125"/>
            <a:ext cx="34671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approval and intra-couple discussion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the two most significant factors associated with contraceptive use and unmet need in both urban and rural Cameroon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810500" y="4581525"/>
            <a:ext cx="4000500" cy="1943100"/>
          </a:xfrm>
          <a:custGeom>
            <a:avLst/>
            <a:gdLst/>
            <a:ahLst/>
            <a:cxnLst/>
            <a:rect l="l" t="t" r="r" b="b"/>
            <a:pathLst>
              <a:path w="4000500" h="1943100">
                <a:moveTo>
                  <a:pt x="76208" y="0"/>
                </a:moveTo>
                <a:lnTo>
                  <a:pt x="3924292" y="0"/>
                </a:lnTo>
                <a:cubicBezTo>
                  <a:pt x="3966380" y="0"/>
                  <a:pt x="4000500" y="34120"/>
                  <a:pt x="4000500" y="76208"/>
                </a:cubicBezTo>
                <a:lnTo>
                  <a:pt x="4000500" y="1866892"/>
                </a:lnTo>
                <a:cubicBezTo>
                  <a:pt x="4000500" y="1908980"/>
                  <a:pt x="3966380" y="1943100"/>
                  <a:pt x="39242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27" name="Image 0" descr="https://kimi-web-img.moonshot.cn/img/www.afro.who.int/b2c95013be7bc5a53db679c9f34dbfc7ec521ef1.jpg"/>
          <p:cNvPicPr>
            <a:picLocks noChangeAspect="1"/>
          </p:cNvPicPr>
          <p:nvPr/>
        </p:nvPicPr>
        <p:blipFill>
          <a:blip r:embed="rId3"/>
          <a:srcRect t="22938" b="22938"/>
          <a:stretch/>
        </p:blipFill>
        <p:spPr>
          <a:xfrm>
            <a:off x="7962900" y="4733925"/>
            <a:ext cx="3695700" cy="1333500"/>
          </a:xfrm>
          <a:prstGeom prst="roundRect">
            <a:avLst>
              <a:gd name="adj" fmla="val 5714"/>
            </a:avLst>
          </a:prstGeom>
        </p:spPr>
      </p:pic>
      <p:sp>
        <p:nvSpPr>
          <p:cNvPr id="28" name="Text 25"/>
          <p:cNvSpPr/>
          <p:nvPr/>
        </p:nvSpPr>
        <p:spPr>
          <a:xfrm>
            <a:off x="7962900" y="6181725"/>
            <a:ext cx="376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 accessing reproductive health services in Cameroon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863" y="326863"/>
            <a:ext cx="11595475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b="1" kern="0" spc="90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Purpose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863" y="555668"/>
            <a:ext cx="11734391" cy="392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88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6863" y="1045962"/>
            <a:ext cx="653727" cy="32686"/>
          </a:xfrm>
          <a:custGeom>
            <a:avLst/>
            <a:gdLst/>
            <a:ahLst/>
            <a:cxnLst/>
            <a:rect l="l" t="t" r="r" b="b"/>
            <a:pathLst>
              <a:path w="653727" h="32686">
                <a:moveTo>
                  <a:pt x="0" y="0"/>
                </a:moveTo>
                <a:lnTo>
                  <a:pt x="653727" y="0"/>
                </a:lnTo>
                <a:lnTo>
                  <a:pt x="653727" y="32686"/>
                </a:lnTo>
                <a:lnTo>
                  <a:pt x="0" y="32686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" name="Shape 3"/>
          <p:cNvSpPr/>
          <p:nvPr/>
        </p:nvSpPr>
        <p:spPr>
          <a:xfrm>
            <a:off x="326863" y="1425941"/>
            <a:ext cx="6234917" cy="1617973"/>
          </a:xfrm>
          <a:custGeom>
            <a:avLst/>
            <a:gdLst/>
            <a:ahLst/>
            <a:cxnLst/>
            <a:rect l="l" t="t" r="r" b="b"/>
            <a:pathLst>
              <a:path w="6234917" h="1617973">
                <a:moveTo>
                  <a:pt x="32686" y="0"/>
                </a:moveTo>
                <a:lnTo>
                  <a:pt x="6202231" y="0"/>
                </a:lnTo>
                <a:cubicBezTo>
                  <a:pt x="6220283" y="0"/>
                  <a:pt x="6234917" y="14634"/>
                  <a:pt x="6234917" y="32686"/>
                </a:cubicBezTo>
                <a:lnTo>
                  <a:pt x="6234917" y="1552607"/>
                </a:lnTo>
                <a:cubicBezTo>
                  <a:pt x="6234917" y="1588708"/>
                  <a:pt x="6205651" y="1617973"/>
                  <a:pt x="6169551" y="1617973"/>
                </a:cubicBezTo>
                <a:lnTo>
                  <a:pt x="65366" y="1617973"/>
                </a:lnTo>
                <a:cubicBezTo>
                  <a:pt x="29265" y="1617973"/>
                  <a:pt x="0" y="1588708"/>
                  <a:pt x="0" y="155260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029" dist="326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6863" y="1425941"/>
            <a:ext cx="6234917" cy="32686"/>
          </a:xfrm>
          <a:custGeom>
            <a:avLst/>
            <a:gdLst/>
            <a:ahLst/>
            <a:cxnLst/>
            <a:rect l="l" t="t" r="r" b="b"/>
            <a:pathLst>
              <a:path w="6234917" h="32686">
                <a:moveTo>
                  <a:pt x="32686" y="0"/>
                </a:moveTo>
                <a:lnTo>
                  <a:pt x="6202231" y="0"/>
                </a:lnTo>
                <a:cubicBezTo>
                  <a:pt x="6220283" y="0"/>
                  <a:pt x="6234917" y="14634"/>
                  <a:pt x="6234917" y="32686"/>
                </a:cubicBezTo>
                <a:lnTo>
                  <a:pt x="6234917" y="32686"/>
                </a:lnTo>
                <a:lnTo>
                  <a:pt x="0" y="32686"/>
                </a:ln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7" name="Shape 5"/>
          <p:cNvSpPr/>
          <p:nvPr/>
        </p:nvSpPr>
        <p:spPr>
          <a:xfrm>
            <a:off x="522981" y="1638402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261491" y="0"/>
                </a:moveTo>
                <a:lnTo>
                  <a:pt x="261491" y="0"/>
                </a:lnTo>
                <a:cubicBezTo>
                  <a:pt x="405811" y="0"/>
                  <a:pt x="522981" y="117170"/>
                  <a:pt x="522981" y="261491"/>
                </a:cubicBezTo>
                <a:lnTo>
                  <a:pt x="522981" y="261491"/>
                </a:lnTo>
                <a:cubicBezTo>
                  <a:pt x="522981" y="405811"/>
                  <a:pt x="405811" y="522981"/>
                  <a:pt x="261491" y="522981"/>
                </a:cubicBezTo>
                <a:lnTo>
                  <a:pt x="261491" y="522981"/>
                </a:lnTo>
                <a:cubicBezTo>
                  <a:pt x="117170" y="522981"/>
                  <a:pt x="0" y="405811"/>
                  <a:pt x="0" y="261491"/>
                </a:cubicBezTo>
                <a:lnTo>
                  <a:pt x="0" y="261491"/>
                </a:lnTo>
                <a:cubicBezTo>
                  <a:pt x="0" y="117170"/>
                  <a:pt x="117170" y="0"/>
                  <a:pt x="261491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8" name="Text 6"/>
          <p:cNvSpPr/>
          <p:nvPr/>
        </p:nvSpPr>
        <p:spPr>
          <a:xfrm>
            <a:off x="461694" y="1638402"/>
            <a:ext cx="645555" cy="522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6708" y="1638402"/>
            <a:ext cx="528701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4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Descriptive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6708" y="1997952"/>
            <a:ext cx="5262499" cy="71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describe the </a:t>
            </a:r>
            <a:r>
              <a:rPr lang="en-US" sz="1158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sociodemographic characteristics</a:t>
            </a:r>
            <a:r>
              <a:rPr lang="en-US" sz="1158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married women in Cameroon and the </a:t>
            </a:r>
            <a:r>
              <a:rPr lang="en-US" sz="1158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of family planning decisional autonomy</a:t>
            </a:r>
            <a:r>
              <a:rPr lang="en-US" sz="1158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the population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6863" y="3188960"/>
            <a:ext cx="6234917" cy="1380997"/>
          </a:xfrm>
          <a:custGeom>
            <a:avLst/>
            <a:gdLst/>
            <a:ahLst/>
            <a:cxnLst/>
            <a:rect l="l" t="t" r="r" b="b"/>
            <a:pathLst>
              <a:path w="6234917" h="1380997">
                <a:moveTo>
                  <a:pt x="32686" y="0"/>
                </a:moveTo>
                <a:lnTo>
                  <a:pt x="6202231" y="0"/>
                </a:lnTo>
                <a:cubicBezTo>
                  <a:pt x="6220283" y="0"/>
                  <a:pt x="6234917" y="14634"/>
                  <a:pt x="6234917" y="32686"/>
                </a:cubicBezTo>
                <a:lnTo>
                  <a:pt x="6234917" y="1315621"/>
                </a:lnTo>
                <a:cubicBezTo>
                  <a:pt x="6234917" y="1351727"/>
                  <a:pt x="6205647" y="1380997"/>
                  <a:pt x="6169540" y="1380997"/>
                </a:cubicBezTo>
                <a:lnTo>
                  <a:pt x="65376" y="1380997"/>
                </a:lnTo>
                <a:cubicBezTo>
                  <a:pt x="29270" y="1380997"/>
                  <a:pt x="0" y="1351727"/>
                  <a:pt x="0" y="1315621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029" dist="326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63" y="3188960"/>
            <a:ext cx="6234917" cy="32686"/>
          </a:xfrm>
          <a:custGeom>
            <a:avLst/>
            <a:gdLst/>
            <a:ahLst/>
            <a:cxnLst/>
            <a:rect l="l" t="t" r="r" b="b"/>
            <a:pathLst>
              <a:path w="6234917" h="32686">
                <a:moveTo>
                  <a:pt x="32686" y="0"/>
                </a:moveTo>
                <a:lnTo>
                  <a:pt x="6202231" y="0"/>
                </a:lnTo>
                <a:cubicBezTo>
                  <a:pt x="6220283" y="0"/>
                  <a:pt x="6234917" y="14634"/>
                  <a:pt x="6234917" y="32686"/>
                </a:cubicBezTo>
                <a:lnTo>
                  <a:pt x="6234917" y="32686"/>
                </a:lnTo>
                <a:lnTo>
                  <a:pt x="0" y="32686"/>
                </a:ln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3" name="Shape 11"/>
          <p:cNvSpPr/>
          <p:nvPr/>
        </p:nvSpPr>
        <p:spPr>
          <a:xfrm>
            <a:off x="522981" y="3401421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261491" y="0"/>
                </a:moveTo>
                <a:lnTo>
                  <a:pt x="261491" y="0"/>
                </a:lnTo>
                <a:cubicBezTo>
                  <a:pt x="405811" y="0"/>
                  <a:pt x="522981" y="117170"/>
                  <a:pt x="522981" y="261491"/>
                </a:cubicBezTo>
                <a:lnTo>
                  <a:pt x="522981" y="261491"/>
                </a:lnTo>
                <a:cubicBezTo>
                  <a:pt x="522981" y="405811"/>
                  <a:pt x="405811" y="522981"/>
                  <a:pt x="261491" y="522981"/>
                </a:cubicBezTo>
                <a:lnTo>
                  <a:pt x="261491" y="522981"/>
                </a:lnTo>
                <a:cubicBezTo>
                  <a:pt x="117170" y="522981"/>
                  <a:pt x="0" y="405811"/>
                  <a:pt x="0" y="261491"/>
                </a:cubicBezTo>
                <a:lnTo>
                  <a:pt x="0" y="261491"/>
                </a:lnTo>
                <a:cubicBezTo>
                  <a:pt x="0" y="117170"/>
                  <a:pt x="117170" y="0"/>
                  <a:pt x="261491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4" name="Text 12"/>
          <p:cNvSpPr/>
          <p:nvPr/>
        </p:nvSpPr>
        <p:spPr>
          <a:xfrm>
            <a:off x="461694" y="3401421"/>
            <a:ext cx="645555" cy="522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6708" y="3401421"/>
            <a:ext cx="528701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4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Bivariate Associations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6708" y="3760971"/>
            <a:ext cx="5262499" cy="482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examine the </a:t>
            </a:r>
            <a:r>
              <a:rPr lang="en-US" sz="1158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bivariate associations</a:t>
            </a:r>
            <a:r>
              <a:rPr lang="en-US" sz="1158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candidate independent variables and family planning decisional autonomy using Chi-square tests and Cramér's V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6863" y="4712960"/>
            <a:ext cx="6234917" cy="1617973"/>
          </a:xfrm>
          <a:custGeom>
            <a:avLst/>
            <a:gdLst/>
            <a:ahLst/>
            <a:cxnLst/>
            <a:rect l="l" t="t" r="r" b="b"/>
            <a:pathLst>
              <a:path w="6234917" h="1617973">
                <a:moveTo>
                  <a:pt x="32686" y="0"/>
                </a:moveTo>
                <a:lnTo>
                  <a:pt x="6202231" y="0"/>
                </a:lnTo>
                <a:cubicBezTo>
                  <a:pt x="6220283" y="0"/>
                  <a:pt x="6234917" y="14634"/>
                  <a:pt x="6234917" y="32686"/>
                </a:cubicBezTo>
                <a:lnTo>
                  <a:pt x="6234917" y="1552607"/>
                </a:lnTo>
                <a:cubicBezTo>
                  <a:pt x="6234917" y="1588708"/>
                  <a:pt x="6205651" y="1617973"/>
                  <a:pt x="6169551" y="1617973"/>
                </a:cubicBezTo>
                <a:lnTo>
                  <a:pt x="65366" y="1617973"/>
                </a:lnTo>
                <a:cubicBezTo>
                  <a:pt x="29265" y="1617973"/>
                  <a:pt x="0" y="1588708"/>
                  <a:pt x="0" y="155260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029" dist="326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863" y="4712960"/>
            <a:ext cx="6234917" cy="32686"/>
          </a:xfrm>
          <a:custGeom>
            <a:avLst/>
            <a:gdLst/>
            <a:ahLst/>
            <a:cxnLst/>
            <a:rect l="l" t="t" r="r" b="b"/>
            <a:pathLst>
              <a:path w="6234917" h="32686">
                <a:moveTo>
                  <a:pt x="32686" y="0"/>
                </a:moveTo>
                <a:lnTo>
                  <a:pt x="6202231" y="0"/>
                </a:lnTo>
                <a:cubicBezTo>
                  <a:pt x="6220283" y="0"/>
                  <a:pt x="6234917" y="14634"/>
                  <a:pt x="6234917" y="32686"/>
                </a:cubicBezTo>
                <a:lnTo>
                  <a:pt x="6234917" y="32686"/>
                </a:lnTo>
                <a:lnTo>
                  <a:pt x="0" y="32686"/>
                </a:ln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9" name="Shape 17"/>
          <p:cNvSpPr/>
          <p:nvPr/>
        </p:nvSpPr>
        <p:spPr>
          <a:xfrm>
            <a:off x="522981" y="4925421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261491" y="0"/>
                </a:moveTo>
                <a:lnTo>
                  <a:pt x="261491" y="0"/>
                </a:lnTo>
                <a:cubicBezTo>
                  <a:pt x="405811" y="0"/>
                  <a:pt x="522981" y="117170"/>
                  <a:pt x="522981" y="261491"/>
                </a:cubicBezTo>
                <a:lnTo>
                  <a:pt x="522981" y="261491"/>
                </a:lnTo>
                <a:cubicBezTo>
                  <a:pt x="522981" y="405811"/>
                  <a:pt x="405811" y="522981"/>
                  <a:pt x="261491" y="522981"/>
                </a:cubicBezTo>
                <a:lnTo>
                  <a:pt x="261491" y="522981"/>
                </a:lnTo>
                <a:cubicBezTo>
                  <a:pt x="117170" y="522981"/>
                  <a:pt x="0" y="405811"/>
                  <a:pt x="0" y="261491"/>
                </a:cubicBezTo>
                <a:lnTo>
                  <a:pt x="0" y="261491"/>
                </a:lnTo>
                <a:cubicBezTo>
                  <a:pt x="0" y="117170"/>
                  <a:pt x="117170" y="0"/>
                  <a:pt x="261491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0" name="Text 18"/>
          <p:cNvSpPr/>
          <p:nvPr/>
        </p:nvSpPr>
        <p:spPr>
          <a:xfrm>
            <a:off x="461694" y="4925421"/>
            <a:ext cx="645555" cy="522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6708" y="4925421"/>
            <a:ext cx="528701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4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Multivariate Analysis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6708" y="5284971"/>
            <a:ext cx="5262499" cy="71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identify the </a:t>
            </a:r>
            <a:r>
              <a:rPr lang="en-US" sz="1158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factors</a:t>
            </a:r>
            <a:r>
              <a:rPr lang="en-US" sz="1158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associated with husband-only and joint decision-making compared to woman-alone decision-making, using </a:t>
            </a:r>
            <a:r>
              <a:rPr lang="en-US" sz="1158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multinomial logistic regression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59175" y="1209394"/>
            <a:ext cx="5099067" cy="3358520"/>
          </a:xfrm>
          <a:custGeom>
            <a:avLst/>
            <a:gdLst/>
            <a:ahLst/>
            <a:cxnLst/>
            <a:rect l="l" t="t" r="r" b="b"/>
            <a:pathLst>
              <a:path w="5099067" h="3358520">
                <a:moveTo>
                  <a:pt x="65357" y="0"/>
                </a:moveTo>
                <a:lnTo>
                  <a:pt x="5033710" y="0"/>
                </a:lnTo>
                <a:cubicBezTo>
                  <a:pt x="5069806" y="0"/>
                  <a:pt x="5099067" y="29261"/>
                  <a:pt x="5099067" y="65357"/>
                </a:cubicBezTo>
                <a:lnTo>
                  <a:pt x="5099067" y="3293163"/>
                </a:lnTo>
                <a:cubicBezTo>
                  <a:pt x="5099067" y="3329259"/>
                  <a:pt x="5069806" y="3358520"/>
                  <a:pt x="5033710" y="3358520"/>
                </a:cubicBezTo>
                <a:lnTo>
                  <a:pt x="65357" y="3358520"/>
                </a:lnTo>
                <a:cubicBezTo>
                  <a:pt x="29261" y="3358520"/>
                  <a:pt x="0" y="3329259"/>
                  <a:pt x="0" y="3293163"/>
                </a:cubicBezTo>
                <a:lnTo>
                  <a:pt x="0" y="65357"/>
                </a:lnTo>
                <a:cubicBezTo>
                  <a:pt x="0" y="29285"/>
                  <a:pt x="29285" y="0"/>
                  <a:pt x="65357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24" name="Shape 22"/>
          <p:cNvSpPr/>
          <p:nvPr/>
        </p:nvSpPr>
        <p:spPr>
          <a:xfrm>
            <a:off x="7004322" y="1438198"/>
            <a:ext cx="147088" cy="196118"/>
          </a:xfrm>
          <a:custGeom>
            <a:avLst/>
            <a:gdLst/>
            <a:ahLst/>
            <a:cxnLst/>
            <a:rect l="l" t="t" r="r" b="b"/>
            <a:pathLst>
              <a:path w="147088" h="196118">
                <a:moveTo>
                  <a:pt x="112193" y="147088"/>
                </a:moveTo>
                <a:cubicBezTo>
                  <a:pt x="114989" y="138547"/>
                  <a:pt x="120582" y="130809"/>
                  <a:pt x="126902" y="124144"/>
                </a:cubicBezTo>
                <a:cubicBezTo>
                  <a:pt x="139428" y="110968"/>
                  <a:pt x="147088" y="93156"/>
                  <a:pt x="147088" y="73544"/>
                </a:cubicBezTo>
                <a:cubicBezTo>
                  <a:pt x="147088" y="32942"/>
                  <a:pt x="114147" y="0"/>
                  <a:pt x="73544" y="0"/>
                </a:cubicBezTo>
                <a:cubicBezTo>
                  <a:pt x="32942" y="0"/>
                  <a:pt x="0" y="32942"/>
                  <a:pt x="0" y="73544"/>
                </a:cubicBezTo>
                <a:cubicBezTo>
                  <a:pt x="0" y="93156"/>
                  <a:pt x="7661" y="110968"/>
                  <a:pt x="20186" y="124144"/>
                </a:cubicBezTo>
                <a:cubicBezTo>
                  <a:pt x="26507" y="130809"/>
                  <a:pt x="32137" y="138547"/>
                  <a:pt x="34895" y="147088"/>
                </a:cubicBezTo>
                <a:lnTo>
                  <a:pt x="112155" y="147088"/>
                </a:lnTo>
                <a:close/>
                <a:moveTo>
                  <a:pt x="110316" y="165475"/>
                </a:moveTo>
                <a:lnTo>
                  <a:pt x="36772" y="165475"/>
                </a:lnTo>
                <a:lnTo>
                  <a:pt x="36772" y="171603"/>
                </a:lnTo>
                <a:cubicBezTo>
                  <a:pt x="36772" y="188534"/>
                  <a:pt x="50485" y="202247"/>
                  <a:pt x="67416" y="202247"/>
                </a:cubicBezTo>
                <a:lnTo>
                  <a:pt x="79673" y="202247"/>
                </a:lnTo>
                <a:cubicBezTo>
                  <a:pt x="96603" y="202247"/>
                  <a:pt x="110316" y="188534"/>
                  <a:pt x="110316" y="171603"/>
                </a:cubicBezTo>
                <a:lnTo>
                  <a:pt x="110316" y="165475"/>
                </a:lnTo>
                <a:close/>
                <a:moveTo>
                  <a:pt x="70480" y="42901"/>
                </a:moveTo>
                <a:cubicBezTo>
                  <a:pt x="55235" y="42901"/>
                  <a:pt x="42901" y="55235"/>
                  <a:pt x="42901" y="70480"/>
                </a:cubicBezTo>
                <a:cubicBezTo>
                  <a:pt x="42901" y="75574"/>
                  <a:pt x="38802" y="79673"/>
                  <a:pt x="33708" y="79673"/>
                </a:cubicBezTo>
                <a:cubicBezTo>
                  <a:pt x="28613" y="79673"/>
                  <a:pt x="24515" y="75574"/>
                  <a:pt x="24515" y="70480"/>
                </a:cubicBezTo>
                <a:cubicBezTo>
                  <a:pt x="24515" y="45084"/>
                  <a:pt x="45084" y="24515"/>
                  <a:pt x="70480" y="24515"/>
                </a:cubicBezTo>
                <a:cubicBezTo>
                  <a:pt x="75574" y="24515"/>
                  <a:pt x="79673" y="28613"/>
                  <a:pt x="79673" y="33708"/>
                </a:cubicBezTo>
                <a:cubicBezTo>
                  <a:pt x="79673" y="38802"/>
                  <a:pt x="75574" y="42901"/>
                  <a:pt x="70480" y="42901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5" name="Text 23"/>
          <p:cNvSpPr/>
          <p:nvPr/>
        </p:nvSpPr>
        <p:spPr>
          <a:xfrm>
            <a:off x="7200440" y="1405512"/>
            <a:ext cx="455974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55293" y="1797748"/>
            <a:ext cx="4780375" cy="71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 existing research has examined </a:t>
            </a:r>
            <a:r>
              <a:rPr lang="en-US" sz="11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outcomes</a:t>
            </a:r>
            <a:r>
              <a:rPr lang="en-US" sz="115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—whether a woman has decision-making power or not—</a:t>
            </a:r>
            <a:r>
              <a:rPr lang="en-US" sz="1158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fewer studies have examined the full spectrum </a:t>
            </a:r>
            <a:r>
              <a:rPr lang="en-US" sz="115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who makes family planning decisions.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55293" y="2645550"/>
            <a:ext cx="4780375" cy="71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these distinctions is </a:t>
            </a:r>
            <a:r>
              <a:rPr lang="en-US" sz="115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for designing targeted interventions</a:t>
            </a:r>
            <a:r>
              <a:rPr lang="en-US" sz="115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as joint decision-making and woman-alone decision-making represent fundamentally different autonomy profiles.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55293" y="3649975"/>
            <a:ext cx="4706831" cy="5448"/>
          </a:xfrm>
          <a:custGeom>
            <a:avLst/>
            <a:gdLst/>
            <a:ahLst/>
            <a:cxnLst/>
            <a:rect l="l" t="t" r="r" b="b"/>
            <a:pathLst>
              <a:path w="4706831" h="5448">
                <a:moveTo>
                  <a:pt x="0" y="0"/>
                </a:moveTo>
                <a:lnTo>
                  <a:pt x="4706831" y="0"/>
                </a:lnTo>
                <a:lnTo>
                  <a:pt x="4706831" y="5448"/>
                </a:lnTo>
                <a:lnTo>
                  <a:pt x="0" y="54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955293" y="3783442"/>
            <a:ext cx="4772204" cy="588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study addresses this gap by examining the factors associated with </a:t>
            </a:r>
            <a:r>
              <a:rPr lang="en-US" sz="1029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category</a:t>
            </a:r>
            <a:r>
              <a:rPr lang="en-US" sz="102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decisional autonomy in family planning among married women in Cameroon.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59175" y="4698660"/>
            <a:ext cx="5099067" cy="1830434"/>
          </a:xfrm>
          <a:custGeom>
            <a:avLst/>
            <a:gdLst/>
            <a:ahLst/>
            <a:cxnLst/>
            <a:rect l="l" t="t" r="r" b="b"/>
            <a:pathLst>
              <a:path w="5099067" h="1830434">
                <a:moveTo>
                  <a:pt x="65365" y="0"/>
                </a:moveTo>
                <a:lnTo>
                  <a:pt x="5033702" y="0"/>
                </a:lnTo>
                <a:cubicBezTo>
                  <a:pt x="5069802" y="0"/>
                  <a:pt x="5099067" y="29265"/>
                  <a:pt x="5099067" y="65365"/>
                </a:cubicBezTo>
                <a:lnTo>
                  <a:pt x="5099067" y="1765070"/>
                </a:lnTo>
                <a:cubicBezTo>
                  <a:pt x="5099067" y="1801169"/>
                  <a:pt x="5069802" y="1830434"/>
                  <a:pt x="5033702" y="1830434"/>
                </a:cubicBezTo>
                <a:lnTo>
                  <a:pt x="65365" y="1830434"/>
                </a:lnTo>
                <a:cubicBezTo>
                  <a:pt x="29265" y="1830434"/>
                  <a:pt x="0" y="1801169"/>
                  <a:pt x="0" y="1765070"/>
                </a:cubicBezTo>
                <a:lnTo>
                  <a:pt x="0" y="65365"/>
                </a:lnTo>
                <a:cubicBezTo>
                  <a:pt x="0" y="29265"/>
                  <a:pt x="29265" y="0"/>
                  <a:pt x="6536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515" dist="8172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1" name="Image 0" descr="https://kimi-web-img.moonshot.cn/img/s7d1.scene7.com/5bad7735f908c9b70c864eceb057d347c842669c"/>
          <p:cNvPicPr>
            <a:picLocks noChangeAspect="1"/>
          </p:cNvPicPr>
          <p:nvPr/>
        </p:nvPicPr>
        <p:blipFill>
          <a:blip r:embed="rId3"/>
          <a:srcRect t="19189" b="19189"/>
          <a:stretch/>
        </p:blipFill>
        <p:spPr>
          <a:xfrm>
            <a:off x="6889920" y="4829405"/>
            <a:ext cx="4837576" cy="1307453"/>
          </a:xfrm>
          <a:prstGeom prst="roundRect">
            <a:avLst>
              <a:gd name="adj" fmla="val 5000"/>
            </a:avLst>
          </a:prstGeom>
        </p:spPr>
      </p:pic>
      <p:sp>
        <p:nvSpPr>
          <p:cNvPr id="32" name="Text 29"/>
          <p:cNvSpPr/>
          <p:nvPr/>
        </p:nvSpPr>
        <p:spPr>
          <a:xfrm>
            <a:off x="6861320" y="6234917"/>
            <a:ext cx="4894777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1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Empowering women through education and agency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kern="0" spc="96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91760"/>
            <a:ext cx="11704668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9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094" y="1113901"/>
            <a:ext cx="696188" cy="34809"/>
          </a:xfrm>
          <a:custGeom>
            <a:avLst/>
            <a:gdLst/>
            <a:ahLst/>
            <a:cxnLst/>
            <a:rect l="l" t="t" r="r" b="b"/>
            <a:pathLst>
              <a:path w="696188" h="34809">
                <a:moveTo>
                  <a:pt x="0" y="0"/>
                </a:moveTo>
                <a:lnTo>
                  <a:pt x="696188" y="0"/>
                </a:lnTo>
                <a:lnTo>
                  <a:pt x="696188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" name="Shape 3"/>
          <p:cNvSpPr/>
          <p:nvPr/>
        </p:nvSpPr>
        <p:spPr>
          <a:xfrm>
            <a:off x="348094" y="1287949"/>
            <a:ext cx="6796540" cy="1949328"/>
          </a:xfrm>
          <a:custGeom>
            <a:avLst/>
            <a:gdLst/>
            <a:ahLst/>
            <a:cxnLst/>
            <a:rect l="l" t="t" r="r" b="b"/>
            <a:pathLst>
              <a:path w="6796540" h="1949328">
                <a:moveTo>
                  <a:pt x="69610" y="0"/>
                </a:moveTo>
                <a:lnTo>
                  <a:pt x="6726929" y="0"/>
                </a:lnTo>
                <a:cubicBezTo>
                  <a:pt x="6765374" y="0"/>
                  <a:pt x="6796540" y="31166"/>
                  <a:pt x="6796540" y="69610"/>
                </a:cubicBezTo>
                <a:lnTo>
                  <a:pt x="6796540" y="1879717"/>
                </a:lnTo>
                <a:cubicBezTo>
                  <a:pt x="6796540" y="1918162"/>
                  <a:pt x="6765374" y="1949328"/>
                  <a:pt x="6726929" y="1949328"/>
                </a:cubicBezTo>
                <a:lnTo>
                  <a:pt x="69610" y="1949328"/>
                </a:lnTo>
                <a:cubicBezTo>
                  <a:pt x="31166" y="1949328"/>
                  <a:pt x="0" y="1918162"/>
                  <a:pt x="0" y="1879717"/>
                </a:cubicBezTo>
                <a:lnTo>
                  <a:pt x="0" y="69610"/>
                </a:lnTo>
                <a:cubicBezTo>
                  <a:pt x="0" y="31191"/>
                  <a:pt x="31191" y="0"/>
                  <a:pt x="696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107" dist="87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1302" y="1479400"/>
            <a:ext cx="182749" cy="208857"/>
          </a:xfrm>
          <a:custGeom>
            <a:avLst/>
            <a:gdLst/>
            <a:ahLst/>
            <a:cxnLst/>
            <a:rect l="l" t="t" r="r" b="b"/>
            <a:pathLst>
              <a:path w="182749" h="208857">
                <a:moveTo>
                  <a:pt x="182749" y="83951"/>
                </a:moveTo>
                <a:cubicBezTo>
                  <a:pt x="176712" y="87948"/>
                  <a:pt x="169778" y="91171"/>
                  <a:pt x="162557" y="93741"/>
                </a:cubicBezTo>
                <a:cubicBezTo>
                  <a:pt x="143385" y="100594"/>
                  <a:pt x="118216" y="104428"/>
                  <a:pt x="91375" y="104428"/>
                </a:cubicBezTo>
                <a:cubicBezTo>
                  <a:pt x="64533" y="104428"/>
                  <a:pt x="39324" y="100553"/>
                  <a:pt x="20192" y="93741"/>
                </a:cubicBezTo>
                <a:cubicBezTo>
                  <a:pt x="13013" y="91171"/>
                  <a:pt x="6037" y="87948"/>
                  <a:pt x="0" y="83951"/>
                </a:cubicBezTo>
                <a:lnTo>
                  <a:pt x="0" y="117482"/>
                </a:lnTo>
                <a:cubicBezTo>
                  <a:pt x="0" y="135512"/>
                  <a:pt x="40915" y="150116"/>
                  <a:pt x="91375" y="150116"/>
                </a:cubicBezTo>
                <a:cubicBezTo>
                  <a:pt x="141835" y="150116"/>
                  <a:pt x="182749" y="135512"/>
                  <a:pt x="182749" y="117482"/>
                </a:cubicBezTo>
                <a:lnTo>
                  <a:pt x="182749" y="83951"/>
                </a:lnTo>
                <a:close/>
                <a:moveTo>
                  <a:pt x="182749" y="52214"/>
                </a:moveTo>
                <a:lnTo>
                  <a:pt x="182749" y="32634"/>
                </a:lnTo>
                <a:cubicBezTo>
                  <a:pt x="182749" y="14604"/>
                  <a:pt x="141835" y="0"/>
                  <a:pt x="91375" y="0"/>
                </a:cubicBezTo>
                <a:cubicBezTo>
                  <a:pt x="40915" y="0"/>
                  <a:pt x="0" y="14604"/>
                  <a:pt x="0" y="32634"/>
                </a:cubicBezTo>
                <a:lnTo>
                  <a:pt x="0" y="52214"/>
                </a:lnTo>
                <a:cubicBezTo>
                  <a:pt x="0" y="70244"/>
                  <a:pt x="40915" y="84848"/>
                  <a:pt x="91375" y="84848"/>
                </a:cubicBezTo>
                <a:cubicBezTo>
                  <a:pt x="141835" y="84848"/>
                  <a:pt x="182749" y="70244"/>
                  <a:pt x="182749" y="52214"/>
                </a:cubicBezTo>
                <a:close/>
                <a:moveTo>
                  <a:pt x="162557" y="159008"/>
                </a:moveTo>
                <a:cubicBezTo>
                  <a:pt x="143426" y="165821"/>
                  <a:pt x="118257" y="169696"/>
                  <a:pt x="91375" y="169696"/>
                </a:cubicBezTo>
                <a:cubicBezTo>
                  <a:pt x="64493" y="169696"/>
                  <a:pt x="39324" y="165821"/>
                  <a:pt x="20192" y="159008"/>
                </a:cubicBezTo>
                <a:cubicBezTo>
                  <a:pt x="13013" y="156438"/>
                  <a:pt x="6037" y="153216"/>
                  <a:pt x="0" y="149218"/>
                </a:cubicBezTo>
                <a:lnTo>
                  <a:pt x="0" y="176223"/>
                </a:lnTo>
                <a:cubicBezTo>
                  <a:pt x="0" y="194253"/>
                  <a:pt x="40915" y="208857"/>
                  <a:pt x="91375" y="208857"/>
                </a:cubicBezTo>
                <a:cubicBezTo>
                  <a:pt x="141835" y="208857"/>
                  <a:pt x="182749" y="194253"/>
                  <a:pt x="182749" y="176223"/>
                </a:cubicBezTo>
                <a:lnTo>
                  <a:pt x="182749" y="149218"/>
                </a:lnTo>
                <a:cubicBezTo>
                  <a:pt x="176712" y="153216"/>
                  <a:pt x="169778" y="156438"/>
                  <a:pt x="162557" y="159008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7" name="Text 5"/>
          <p:cNvSpPr/>
          <p:nvPr/>
        </p:nvSpPr>
        <p:spPr>
          <a:xfrm>
            <a:off x="887640" y="1461996"/>
            <a:ext cx="1592531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Source &amp; Sample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2141" y="1810090"/>
            <a:ext cx="321987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2141" y="2053756"/>
            <a:ext cx="3219872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2018 Cameroon Demographic and Health Survey (DHS-7)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3898" y="1810090"/>
            <a:ext cx="321987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Sampling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3898" y="2053756"/>
            <a:ext cx="321987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Stratified two-stage cluster sampling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2141" y="2610707"/>
            <a:ext cx="321987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2141" y="2854373"/>
            <a:ext cx="321987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14,677 women aged 15–49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13898" y="2610707"/>
            <a:ext cx="321987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Sample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13898" y="2883382"/>
            <a:ext cx="2305399" cy="150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6,546 married, non-pregnant women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8094" y="3376514"/>
            <a:ext cx="6796540" cy="1601233"/>
          </a:xfrm>
          <a:custGeom>
            <a:avLst/>
            <a:gdLst/>
            <a:ahLst/>
            <a:cxnLst/>
            <a:rect l="l" t="t" r="r" b="b"/>
            <a:pathLst>
              <a:path w="6796540" h="1601233">
                <a:moveTo>
                  <a:pt x="69622" y="0"/>
                </a:moveTo>
                <a:lnTo>
                  <a:pt x="6726918" y="0"/>
                </a:lnTo>
                <a:cubicBezTo>
                  <a:pt x="6765369" y="0"/>
                  <a:pt x="6796540" y="31171"/>
                  <a:pt x="6796540" y="69622"/>
                </a:cubicBezTo>
                <a:lnTo>
                  <a:pt x="6796540" y="1531612"/>
                </a:lnTo>
                <a:cubicBezTo>
                  <a:pt x="6796540" y="1570063"/>
                  <a:pt x="6765369" y="1601233"/>
                  <a:pt x="6726918" y="1601233"/>
                </a:cubicBezTo>
                <a:lnTo>
                  <a:pt x="69622" y="1601233"/>
                </a:lnTo>
                <a:cubicBezTo>
                  <a:pt x="31196" y="1601233"/>
                  <a:pt x="0" y="1570037"/>
                  <a:pt x="0" y="1531612"/>
                </a:cubicBezTo>
                <a:lnTo>
                  <a:pt x="0" y="69622"/>
                </a:lnTo>
                <a:cubicBezTo>
                  <a:pt x="0" y="31196"/>
                  <a:pt x="31196" y="0"/>
                  <a:pt x="696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107" dist="87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248" y="3567966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82749" y="104428"/>
                </a:moveTo>
                <a:cubicBezTo>
                  <a:pt x="182749" y="61202"/>
                  <a:pt x="147655" y="26107"/>
                  <a:pt x="104428" y="26107"/>
                </a:cubicBezTo>
                <a:cubicBezTo>
                  <a:pt x="61202" y="26107"/>
                  <a:pt x="26107" y="61202"/>
                  <a:pt x="26107" y="104428"/>
                </a:cubicBezTo>
                <a:cubicBezTo>
                  <a:pt x="26107" y="147655"/>
                  <a:pt x="61202" y="182749"/>
                  <a:pt x="104428" y="182749"/>
                </a:cubicBezTo>
                <a:cubicBezTo>
                  <a:pt x="147655" y="182749"/>
                  <a:pt x="182749" y="147655"/>
                  <a:pt x="182749" y="104428"/>
                </a:cubicBezTo>
                <a:close/>
                <a:moveTo>
                  <a:pt x="0" y="104428"/>
                </a:moveTo>
                <a:cubicBezTo>
                  <a:pt x="0" y="46793"/>
                  <a:pt x="46793" y="0"/>
                  <a:pt x="104428" y="0"/>
                </a:cubicBezTo>
                <a:cubicBezTo>
                  <a:pt x="162064" y="0"/>
                  <a:pt x="208857" y="46793"/>
                  <a:pt x="208857" y="104428"/>
                </a:cubicBezTo>
                <a:cubicBezTo>
                  <a:pt x="208857" y="162064"/>
                  <a:pt x="162064" y="208857"/>
                  <a:pt x="104428" y="208857"/>
                </a:cubicBezTo>
                <a:cubicBezTo>
                  <a:pt x="46793" y="208857"/>
                  <a:pt x="0" y="162064"/>
                  <a:pt x="0" y="104428"/>
                </a:cubicBezTo>
                <a:close/>
                <a:moveTo>
                  <a:pt x="104428" y="137062"/>
                </a:moveTo>
                <a:cubicBezTo>
                  <a:pt x="122439" y="137062"/>
                  <a:pt x="137062" y="122439"/>
                  <a:pt x="137062" y="104428"/>
                </a:cubicBezTo>
                <a:cubicBezTo>
                  <a:pt x="137062" y="86417"/>
                  <a:pt x="122439" y="71794"/>
                  <a:pt x="104428" y="71794"/>
                </a:cubicBezTo>
                <a:cubicBezTo>
                  <a:pt x="86417" y="71794"/>
                  <a:pt x="71794" y="86417"/>
                  <a:pt x="71794" y="104428"/>
                </a:cubicBezTo>
                <a:cubicBezTo>
                  <a:pt x="71794" y="122439"/>
                  <a:pt x="86417" y="137062"/>
                  <a:pt x="104428" y="137062"/>
                </a:cubicBezTo>
                <a:close/>
                <a:moveTo>
                  <a:pt x="104428" y="45687"/>
                </a:moveTo>
                <a:cubicBezTo>
                  <a:pt x="136848" y="45687"/>
                  <a:pt x="163169" y="72008"/>
                  <a:pt x="163169" y="104428"/>
                </a:cubicBezTo>
                <a:cubicBezTo>
                  <a:pt x="163169" y="136848"/>
                  <a:pt x="136848" y="163169"/>
                  <a:pt x="104428" y="163169"/>
                </a:cubicBezTo>
                <a:cubicBezTo>
                  <a:pt x="72008" y="163169"/>
                  <a:pt x="45687" y="136848"/>
                  <a:pt x="45687" y="104428"/>
                </a:cubicBezTo>
                <a:cubicBezTo>
                  <a:pt x="45687" y="72008"/>
                  <a:pt x="72008" y="45687"/>
                  <a:pt x="104428" y="45687"/>
                </a:cubicBezTo>
                <a:close/>
                <a:moveTo>
                  <a:pt x="91375" y="104428"/>
                </a:moveTo>
                <a:cubicBezTo>
                  <a:pt x="91375" y="97224"/>
                  <a:pt x="97224" y="91375"/>
                  <a:pt x="104428" y="91375"/>
                </a:cubicBezTo>
                <a:cubicBezTo>
                  <a:pt x="111633" y="91375"/>
                  <a:pt x="117482" y="97224"/>
                  <a:pt x="117482" y="104428"/>
                </a:cubicBezTo>
                <a:cubicBezTo>
                  <a:pt x="117482" y="111633"/>
                  <a:pt x="111633" y="117482"/>
                  <a:pt x="104428" y="117482"/>
                </a:cubicBezTo>
                <a:cubicBezTo>
                  <a:pt x="97224" y="117482"/>
                  <a:pt x="91375" y="111633"/>
                  <a:pt x="91375" y="104428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8" name="Text 16"/>
          <p:cNvSpPr/>
          <p:nvPr/>
        </p:nvSpPr>
        <p:spPr>
          <a:xfrm>
            <a:off x="887640" y="3550561"/>
            <a:ext cx="131405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Outcome Variable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2141" y="3898655"/>
            <a:ext cx="651806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Family planning decisional autonomy</a:t>
            </a: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was constructed by combining two DHS-7 variables: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2141" y="4211940"/>
            <a:ext cx="3167657" cy="591760"/>
          </a:xfrm>
          <a:custGeom>
            <a:avLst/>
            <a:gdLst/>
            <a:ahLst/>
            <a:cxnLst/>
            <a:rect l="l" t="t" r="r" b="b"/>
            <a:pathLst>
              <a:path w="3167657" h="591760">
                <a:moveTo>
                  <a:pt x="69621" y="0"/>
                </a:moveTo>
                <a:lnTo>
                  <a:pt x="3098037" y="0"/>
                </a:lnTo>
                <a:cubicBezTo>
                  <a:pt x="3136487" y="0"/>
                  <a:pt x="3167657" y="31170"/>
                  <a:pt x="3167657" y="69621"/>
                </a:cubicBezTo>
                <a:lnTo>
                  <a:pt x="3167657" y="522140"/>
                </a:lnTo>
                <a:cubicBezTo>
                  <a:pt x="3167657" y="560590"/>
                  <a:pt x="3136487" y="591760"/>
                  <a:pt x="3098037" y="591760"/>
                </a:cubicBezTo>
                <a:lnTo>
                  <a:pt x="69621" y="591760"/>
                </a:lnTo>
                <a:cubicBezTo>
                  <a:pt x="31196" y="591760"/>
                  <a:pt x="0" y="560564"/>
                  <a:pt x="0" y="522140"/>
                </a:cubicBezTo>
                <a:lnTo>
                  <a:pt x="0" y="69621"/>
                </a:lnTo>
                <a:cubicBezTo>
                  <a:pt x="0" y="31170"/>
                  <a:pt x="31170" y="0"/>
                  <a:pt x="69621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570" y="4316368"/>
            <a:ext cx="301971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v632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570" y="4525225"/>
            <a:ext cx="301971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decided to </a:t>
            </a:r>
            <a:r>
              <a:rPr lang="en-US" sz="959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</a:t>
            </a:r>
            <a:r>
              <a:rPr lang="en-US" sz="959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contraception (current users)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96493" y="4211940"/>
            <a:ext cx="3167657" cy="591760"/>
          </a:xfrm>
          <a:custGeom>
            <a:avLst/>
            <a:gdLst/>
            <a:ahLst/>
            <a:cxnLst/>
            <a:rect l="l" t="t" r="r" b="b"/>
            <a:pathLst>
              <a:path w="3167657" h="591760">
                <a:moveTo>
                  <a:pt x="69621" y="0"/>
                </a:moveTo>
                <a:lnTo>
                  <a:pt x="3098037" y="0"/>
                </a:lnTo>
                <a:cubicBezTo>
                  <a:pt x="3136487" y="0"/>
                  <a:pt x="3167657" y="31170"/>
                  <a:pt x="3167657" y="69621"/>
                </a:cubicBezTo>
                <a:lnTo>
                  <a:pt x="3167657" y="522140"/>
                </a:lnTo>
                <a:cubicBezTo>
                  <a:pt x="3167657" y="560590"/>
                  <a:pt x="3136487" y="591760"/>
                  <a:pt x="3098037" y="591760"/>
                </a:cubicBezTo>
                <a:lnTo>
                  <a:pt x="69621" y="591760"/>
                </a:lnTo>
                <a:cubicBezTo>
                  <a:pt x="31196" y="591760"/>
                  <a:pt x="0" y="560564"/>
                  <a:pt x="0" y="522140"/>
                </a:cubicBezTo>
                <a:lnTo>
                  <a:pt x="0" y="69621"/>
                </a:lnTo>
                <a:cubicBezTo>
                  <a:pt x="0" y="31170"/>
                  <a:pt x="31170" y="0"/>
                  <a:pt x="69621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4" name="Text 22"/>
          <p:cNvSpPr/>
          <p:nvPr/>
        </p:nvSpPr>
        <p:spPr>
          <a:xfrm>
            <a:off x="3900922" y="4316368"/>
            <a:ext cx="301971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v632a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00922" y="4525225"/>
            <a:ext cx="301971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decided </a:t>
            </a:r>
            <a:r>
              <a:rPr lang="en-US" sz="959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to use</a:t>
            </a:r>
            <a:r>
              <a:rPr lang="en-US" sz="959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contraception (non-users)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8094" y="5116985"/>
            <a:ext cx="6796540" cy="1566424"/>
          </a:xfrm>
          <a:custGeom>
            <a:avLst/>
            <a:gdLst/>
            <a:ahLst/>
            <a:cxnLst/>
            <a:rect l="l" t="t" r="r" b="b"/>
            <a:pathLst>
              <a:path w="6796540" h="1566424">
                <a:moveTo>
                  <a:pt x="69612" y="0"/>
                </a:moveTo>
                <a:lnTo>
                  <a:pt x="6726928" y="0"/>
                </a:lnTo>
                <a:cubicBezTo>
                  <a:pt x="6765373" y="0"/>
                  <a:pt x="6796540" y="31166"/>
                  <a:pt x="6796540" y="69612"/>
                </a:cubicBezTo>
                <a:lnTo>
                  <a:pt x="6796540" y="1496812"/>
                </a:lnTo>
                <a:cubicBezTo>
                  <a:pt x="6796540" y="1535258"/>
                  <a:pt x="6765373" y="1566424"/>
                  <a:pt x="6726928" y="1566424"/>
                </a:cubicBezTo>
                <a:lnTo>
                  <a:pt x="69612" y="1566424"/>
                </a:lnTo>
                <a:cubicBezTo>
                  <a:pt x="31166" y="1566424"/>
                  <a:pt x="0" y="1535258"/>
                  <a:pt x="0" y="1496812"/>
                </a:cubicBezTo>
                <a:lnTo>
                  <a:pt x="0" y="69612"/>
                </a:lnTo>
                <a:cubicBezTo>
                  <a:pt x="0" y="31192"/>
                  <a:pt x="31192" y="0"/>
                  <a:pt x="69612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27" name="Text 25"/>
          <p:cNvSpPr/>
          <p:nvPr/>
        </p:nvSpPr>
        <p:spPr>
          <a:xfrm>
            <a:off x="522141" y="5291032"/>
            <a:ext cx="652676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Four-Category Outcome Variable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2141" y="5639126"/>
            <a:ext cx="1531615" cy="870236"/>
          </a:xfrm>
          <a:custGeom>
            <a:avLst/>
            <a:gdLst/>
            <a:ahLst/>
            <a:cxnLst/>
            <a:rect l="l" t="t" r="r" b="b"/>
            <a:pathLst>
              <a:path w="1531615" h="870236">
                <a:moveTo>
                  <a:pt x="69619" y="0"/>
                </a:moveTo>
                <a:lnTo>
                  <a:pt x="1461996" y="0"/>
                </a:lnTo>
                <a:cubicBezTo>
                  <a:pt x="1500419" y="0"/>
                  <a:pt x="1531615" y="31195"/>
                  <a:pt x="1531615" y="69619"/>
                </a:cubicBezTo>
                <a:lnTo>
                  <a:pt x="1531615" y="800617"/>
                </a:lnTo>
                <a:cubicBezTo>
                  <a:pt x="1531615" y="839066"/>
                  <a:pt x="1500445" y="870236"/>
                  <a:pt x="1461996" y="870236"/>
                </a:cubicBezTo>
                <a:lnTo>
                  <a:pt x="69619" y="870236"/>
                </a:lnTo>
                <a:cubicBezTo>
                  <a:pt x="31195" y="870236"/>
                  <a:pt x="0" y="839040"/>
                  <a:pt x="0" y="800617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61302" y="5743555"/>
            <a:ext cx="1453293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6" b="1" dirty="0">
                <a:solidFill>
                  <a:srgbClr val="C9A8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6111" y="6091649"/>
            <a:ext cx="138367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Woman Alone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0463" y="6265696"/>
            <a:ext cx="1374972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159272" y="5639126"/>
            <a:ext cx="1531615" cy="870236"/>
          </a:xfrm>
          <a:custGeom>
            <a:avLst/>
            <a:gdLst/>
            <a:ahLst/>
            <a:cxnLst/>
            <a:rect l="l" t="t" r="r" b="b"/>
            <a:pathLst>
              <a:path w="1531615" h="870236">
                <a:moveTo>
                  <a:pt x="69619" y="0"/>
                </a:moveTo>
                <a:lnTo>
                  <a:pt x="1461996" y="0"/>
                </a:lnTo>
                <a:cubicBezTo>
                  <a:pt x="1500419" y="0"/>
                  <a:pt x="1531615" y="31195"/>
                  <a:pt x="1531615" y="69619"/>
                </a:cubicBezTo>
                <a:lnTo>
                  <a:pt x="1531615" y="800617"/>
                </a:lnTo>
                <a:cubicBezTo>
                  <a:pt x="1531615" y="839066"/>
                  <a:pt x="1500445" y="870236"/>
                  <a:pt x="1461996" y="870236"/>
                </a:cubicBezTo>
                <a:lnTo>
                  <a:pt x="69619" y="870236"/>
                </a:lnTo>
                <a:cubicBezTo>
                  <a:pt x="31195" y="870236"/>
                  <a:pt x="0" y="839040"/>
                  <a:pt x="0" y="800617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198433" y="5743555"/>
            <a:ext cx="1453293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6" b="1" dirty="0">
                <a:solidFill>
                  <a:srgbClr val="C9A8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233242" y="6091649"/>
            <a:ext cx="138367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Husband Alone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237593" y="6265696"/>
            <a:ext cx="1374972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96493" y="5639126"/>
            <a:ext cx="1531615" cy="870236"/>
          </a:xfrm>
          <a:custGeom>
            <a:avLst/>
            <a:gdLst/>
            <a:ahLst/>
            <a:cxnLst/>
            <a:rect l="l" t="t" r="r" b="b"/>
            <a:pathLst>
              <a:path w="1531615" h="870236">
                <a:moveTo>
                  <a:pt x="69619" y="0"/>
                </a:moveTo>
                <a:lnTo>
                  <a:pt x="1461996" y="0"/>
                </a:lnTo>
                <a:cubicBezTo>
                  <a:pt x="1500419" y="0"/>
                  <a:pt x="1531615" y="31195"/>
                  <a:pt x="1531615" y="69619"/>
                </a:cubicBezTo>
                <a:lnTo>
                  <a:pt x="1531615" y="800617"/>
                </a:lnTo>
                <a:cubicBezTo>
                  <a:pt x="1531615" y="839066"/>
                  <a:pt x="1500445" y="870236"/>
                  <a:pt x="1461996" y="870236"/>
                </a:cubicBezTo>
                <a:lnTo>
                  <a:pt x="69619" y="870236"/>
                </a:lnTo>
                <a:cubicBezTo>
                  <a:pt x="31195" y="870236"/>
                  <a:pt x="0" y="839040"/>
                  <a:pt x="0" y="800617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835654" y="5743555"/>
            <a:ext cx="1453293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6" b="1" dirty="0">
                <a:solidFill>
                  <a:srgbClr val="C9A8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870463" y="6091649"/>
            <a:ext cx="138367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74815" y="6265696"/>
            <a:ext cx="1374972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33715" y="5639126"/>
            <a:ext cx="1531615" cy="870236"/>
          </a:xfrm>
          <a:custGeom>
            <a:avLst/>
            <a:gdLst/>
            <a:ahLst/>
            <a:cxnLst/>
            <a:rect l="l" t="t" r="r" b="b"/>
            <a:pathLst>
              <a:path w="1531615" h="870236">
                <a:moveTo>
                  <a:pt x="69619" y="0"/>
                </a:moveTo>
                <a:lnTo>
                  <a:pt x="1461996" y="0"/>
                </a:lnTo>
                <a:cubicBezTo>
                  <a:pt x="1500419" y="0"/>
                  <a:pt x="1531615" y="31195"/>
                  <a:pt x="1531615" y="69619"/>
                </a:cubicBezTo>
                <a:lnTo>
                  <a:pt x="1531615" y="800617"/>
                </a:lnTo>
                <a:cubicBezTo>
                  <a:pt x="1531615" y="839066"/>
                  <a:pt x="1500445" y="870236"/>
                  <a:pt x="1461996" y="870236"/>
                </a:cubicBezTo>
                <a:lnTo>
                  <a:pt x="69619" y="870236"/>
                </a:lnTo>
                <a:cubicBezTo>
                  <a:pt x="31195" y="870236"/>
                  <a:pt x="0" y="839040"/>
                  <a:pt x="0" y="800617"/>
                </a:cubicBezTo>
                <a:lnTo>
                  <a:pt x="0" y="69619"/>
                </a:lnTo>
                <a:cubicBezTo>
                  <a:pt x="0" y="31169"/>
                  <a:pt x="31169" y="0"/>
                  <a:pt x="6961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472875" y="5743555"/>
            <a:ext cx="1453293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6" b="1" dirty="0">
                <a:solidFill>
                  <a:srgbClr val="C9A8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507685" y="6091649"/>
            <a:ext cx="138367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512036" y="6265696"/>
            <a:ext cx="1374972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2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14602" y="1287949"/>
            <a:ext cx="4525225" cy="3124146"/>
          </a:xfrm>
          <a:custGeom>
            <a:avLst/>
            <a:gdLst/>
            <a:ahLst/>
            <a:cxnLst/>
            <a:rect l="l" t="t" r="r" b="b"/>
            <a:pathLst>
              <a:path w="4525225" h="3124146">
                <a:moveTo>
                  <a:pt x="69606" y="0"/>
                </a:moveTo>
                <a:lnTo>
                  <a:pt x="4455619" y="0"/>
                </a:lnTo>
                <a:cubicBezTo>
                  <a:pt x="4494061" y="0"/>
                  <a:pt x="4525225" y="31164"/>
                  <a:pt x="4525225" y="69606"/>
                </a:cubicBezTo>
                <a:lnTo>
                  <a:pt x="4525225" y="3054540"/>
                </a:lnTo>
                <a:cubicBezTo>
                  <a:pt x="4525225" y="3092982"/>
                  <a:pt x="4494061" y="3124146"/>
                  <a:pt x="4455619" y="3124146"/>
                </a:cubicBezTo>
                <a:lnTo>
                  <a:pt x="69606" y="3124146"/>
                </a:lnTo>
                <a:cubicBezTo>
                  <a:pt x="31164" y="3124146"/>
                  <a:pt x="0" y="3092982"/>
                  <a:pt x="0" y="3054540"/>
                </a:cubicBezTo>
                <a:lnTo>
                  <a:pt x="0" y="69606"/>
                </a:lnTo>
                <a:cubicBezTo>
                  <a:pt x="0" y="31189"/>
                  <a:pt x="31189" y="0"/>
                  <a:pt x="696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107" dist="87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14756" y="1479400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78321" y="26107"/>
                </a:moveTo>
                <a:cubicBezTo>
                  <a:pt x="78321" y="18887"/>
                  <a:pt x="84154" y="13054"/>
                  <a:pt x="91375" y="13054"/>
                </a:cubicBezTo>
                <a:lnTo>
                  <a:pt x="117482" y="13054"/>
                </a:lnTo>
                <a:cubicBezTo>
                  <a:pt x="124702" y="13054"/>
                  <a:pt x="130535" y="18887"/>
                  <a:pt x="130535" y="26107"/>
                </a:cubicBezTo>
                <a:lnTo>
                  <a:pt x="130535" y="52214"/>
                </a:lnTo>
                <a:cubicBezTo>
                  <a:pt x="130535" y="59434"/>
                  <a:pt x="124702" y="65268"/>
                  <a:pt x="117482" y="65268"/>
                </a:cubicBezTo>
                <a:lnTo>
                  <a:pt x="114218" y="65268"/>
                </a:lnTo>
                <a:lnTo>
                  <a:pt x="114218" y="91375"/>
                </a:lnTo>
                <a:lnTo>
                  <a:pt x="163169" y="91375"/>
                </a:lnTo>
                <a:cubicBezTo>
                  <a:pt x="179404" y="91375"/>
                  <a:pt x="192540" y="104510"/>
                  <a:pt x="192540" y="120745"/>
                </a:cubicBezTo>
                <a:lnTo>
                  <a:pt x="192540" y="143589"/>
                </a:lnTo>
                <a:lnTo>
                  <a:pt x="195803" y="143589"/>
                </a:lnTo>
                <a:cubicBezTo>
                  <a:pt x="203023" y="143589"/>
                  <a:pt x="208857" y="149422"/>
                  <a:pt x="208857" y="156642"/>
                </a:cubicBezTo>
                <a:lnTo>
                  <a:pt x="208857" y="182749"/>
                </a:lnTo>
                <a:cubicBezTo>
                  <a:pt x="208857" y="189970"/>
                  <a:pt x="203023" y="195803"/>
                  <a:pt x="195803" y="195803"/>
                </a:cubicBezTo>
                <a:lnTo>
                  <a:pt x="169696" y="195803"/>
                </a:lnTo>
                <a:cubicBezTo>
                  <a:pt x="162476" y="195803"/>
                  <a:pt x="156642" y="189970"/>
                  <a:pt x="156642" y="182749"/>
                </a:cubicBezTo>
                <a:lnTo>
                  <a:pt x="156642" y="156642"/>
                </a:lnTo>
                <a:cubicBezTo>
                  <a:pt x="156642" y="149422"/>
                  <a:pt x="162476" y="143589"/>
                  <a:pt x="169696" y="143589"/>
                </a:cubicBezTo>
                <a:lnTo>
                  <a:pt x="172959" y="143589"/>
                </a:lnTo>
                <a:lnTo>
                  <a:pt x="172959" y="120745"/>
                </a:lnTo>
                <a:cubicBezTo>
                  <a:pt x="172959" y="115320"/>
                  <a:pt x="168595" y="110955"/>
                  <a:pt x="163169" y="110955"/>
                </a:cubicBezTo>
                <a:lnTo>
                  <a:pt x="114218" y="110955"/>
                </a:lnTo>
                <a:lnTo>
                  <a:pt x="114218" y="143589"/>
                </a:lnTo>
                <a:lnTo>
                  <a:pt x="117482" y="143589"/>
                </a:lnTo>
                <a:cubicBezTo>
                  <a:pt x="124702" y="143589"/>
                  <a:pt x="130535" y="149422"/>
                  <a:pt x="130535" y="156642"/>
                </a:cubicBezTo>
                <a:lnTo>
                  <a:pt x="130535" y="182749"/>
                </a:lnTo>
                <a:cubicBezTo>
                  <a:pt x="130535" y="189970"/>
                  <a:pt x="124702" y="195803"/>
                  <a:pt x="117482" y="195803"/>
                </a:cubicBezTo>
                <a:lnTo>
                  <a:pt x="91375" y="195803"/>
                </a:lnTo>
                <a:cubicBezTo>
                  <a:pt x="84154" y="195803"/>
                  <a:pt x="78321" y="189970"/>
                  <a:pt x="78321" y="182749"/>
                </a:cubicBezTo>
                <a:lnTo>
                  <a:pt x="78321" y="156642"/>
                </a:lnTo>
                <a:cubicBezTo>
                  <a:pt x="78321" y="149422"/>
                  <a:pt x="84154" y="143589"/>
                  <a:pt x="91375" y="143589"/>
                </a:cubicBezTo>
                <a:lnTo>
                  <a:pt x="94638" y="143589"/>
                </a:lnTo>
                <a:lnTo>
                  <a:pt x="94638" y="110955"/>
                </a:lnTo>
                <a:lnTo>
                  <a:pt x="45687" y="110955"/>
                </a:lnTo>
                <a:cubicBezTo>
                  <a:pt x="40262" y="110955"/>
                  <a:pt x="35897" y="115320"/>
                  <a:pt x="35897" y="120745"/>
                </a:cubicBezTo>
                <a:lnTo>
                  <a:pt x="35897" y="143589"/>
                </a:lnTo>
                <a:lnTo>
                  <a:pt x="39161" y="143589"/>
                </a:lnTo>
                <a:cubicBezTo>
                  <a:pt x="46381" y="143589"/>
                  <a:pt x="52214" y="149422"/>
                  <a:pt x="52214" y="156642"/>
                </a:cubicBezTo>
                <a:lnTo>
                  <a:pt x="52214" y="182749"/>
                </a:lnTo>
                <a:cubicBezTo>
                  <a:pt x="52214" y="189970"/>
                  <a:pt x="46381" y="195803"/>
                  <a:pt x="39161" y="195803"/>
                </a:cubicBezTo>
                <a:lnTo>
                  <a:pt x="13054" y="195803"/>
                </a:lnTo>
                <a:cubicBezTo>
                  <a:pt x="5833" y="195803"/>
                  <a:pt x="0" y="189970"/>
                  <a:pt x="0" y="182749"/>
                </a:cubicBezTo>
                <a:lnTo>
                  <a:pt x="0" y="156642"/>
                </a:lnTo>
                <a:cubicBezTo>
                  <a:pt x="0" y="149422"/>
                  <a:pt x="5833" y="143589"/>
                  <a:pt x="13054" y="143589"/>
                </a:cubicBezTo>
                <a:lnTo>
                  <a:pt x="16317" y="143589"/>
                </a:lnTo>
                <a:lnTo>
                  <a:pt x="16317" y="120745"/>
                </a:lnTo>
                <a:cubicBezTo>
                  <a:pt x="16317" y="104510"/>
                  <a:pt x="29452" y="91375"/>
                  <a:pt x="45687" y="91375"/>
                </a:cubicBezTo>
                <a:lnTo>
                  <a:pt x="94638" y="91375"/>
                </a:lnTo>
                <a:lnTo>
                  <a:pt x="94638" y="65268"/>
                </a:lnTo>
                <a:lnTo>
                  <a:pt x="91375" y="65268"/>
                </a:lnTo>
                <a:cubicBezTo>
                  <a:pt x="84154" y="65268"/>
                  <a:pt x="78321" y="59434"/>
                  <a:pt x="78321" y="52214"/>
                </a:cubicBezTo>
                <a:lnTo>
                  <a:pt x="78321" y="26107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6" name="Text 44"/>
          <p:cNvSpPr/>
          <p:nvPr/>
        </p:nvSpPr>
        <p:spPr>
          <a:xfrm>
            <a:off x="7854148" y="1461996"/>
            <a:ext cx="136627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UNFPA Framework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88649" y="1810090"/>
            <a:ext cx="4246749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variables selected based on the </a:t>
            </a:r>
            <a:r>
              <a:rPr lang="en-US" sz="1096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UNFPA SDG Indicator 5.6.1 four-level determinants framework</a:t>
            </a: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88649" y="2332231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49" name="Text 47"/>
          <p:cNvSpPr/>
          <p:nvPr/>
        </p:nvSpPr>
        <p:spPr>
          <a:xfrm>
            <a:off x="7458191" y="2332231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71552" y="2332231"/>
            <a:ext cx="290658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Socio-demographic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71552" y="2541088"/>
            <a:ext cx="289788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Age, residence, education, wealth, religion, union type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88649" y="2784754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53" name="Text 51"/>
          <p:cNvSpPr/>
          <p:nvPr/>
        </p:nvSpPr>
        <p:spPr>
          <a:xfrm>
            <a:off x="7458191" y="2784754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871552" y="2784754"/>
            <a:ext cx="355056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871552" y="2993610"/>
            <a:ext cx="354185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Occupation, FP knowledge, fertility preference, parity, unmet need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88649" y="3237276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7" name="Text 55"/>
          <p:cNvSpPr/>
          <p:nvPr/>
        </p:nvSpPr>
        <p:spPr>
          <a:xfrm>
            <a:off x="7458191" y="3237276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871552" y="3237276"/>
            <a:ext cx="270643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Interpersonal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871552" y="3446133"/>
            <a:ext cx="269773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Husband's occupation, husband's desired children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488649" y="3689799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61" name="Text 59"/>
          <p:cNvSpPr/>
          <p:nvPr/>
        </p:nvSpPr>
        <p:spPr>
          <a:xfrm>
            <a:off x="7458191" y="3689799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871552" y="3689799"/>
            <a:ext cx="257589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871552" y="3898655"/>
            <a:ext cx="256719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3D3A3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ANC visits, FP info at facility, FP media exposure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14602" y="4554234"/>
            <a:ext cx="4525225" cy="2132077"/>
          </a:xfrm>
          <a:custGeom>
            <a:avLst/>
            <a:gdLst/>
            <a:ahLst/>
            <a:cxnLst/>
            <a:rect l="l" t="t" r="r" b="b"/>
            <a:pathLst>
              <a:path w="4525225" h="2132077">
                <a:moveTo>
                  <a:pt x="69612" y="0"/>
                </a:moveTo>
                <a:lnTo>
                  <a:pt x="4455613" y="0"/>
                </a:lnTo>
                <a:cubicBezTo>
                  <a:pt x="4494058" y="0"/>
                  <a:pt x="4525225" y="31166"/>
                  <a:pt x="4525225" y="69612"/>
                </a:cubicBezTo>
                <a:lnTo>
                  <a:pt x="4525225" y="2062465"/>
                </a:lnTo>
                <a:cubicBezTo>
                  <a:pt x="4525225" y="2100911"/>
                  <a:pt x="4494058" y="2132077"/>
                  <a:pt x="4455613" y="2132077"/>
                </a:cubicBezTo>
                <a:lnTo>
                  <a:pt x="69612" y="2132077"/>
                </a:lnTo>
                <a:cubicBezTo>
                  <a:pt x="31192" y="2132077"/>
                  <a:pt x="0" y="2100885"/>
                  <a:pt x="0" y="2062465"/>
                </a:cubicBezTo>
                <a:lnTo>
                  <a:pt x="0" y="69612"/>
                </a:lnTo>
                <a:cubicBezTo>
                  <a:pt x="0" y="31166"/>
                  <a:pt x="31166" y="0"/>
                  <a:pt x="696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107" dist="87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540863" y="4745686"/>
            <a:ext cx="156642" cy="208857"/>
          </a:xfrm>
          <a:custGeom>
            <a:avLst/>
            <a:gdLst/>
            <a:ahLst/>
            <a:cxnLst/>
            <a:rect l="l" t="t" r="r" b="b"/>
            <a:pathLst>
              <a:path w="156642" h="208857">
                <a:moveTo>
                  <a:pt x="26107" y="0"/>
                </a:moveTo>
                <a:cubicBezTo>
                  <a:pt x="11707" y="0"/>
                  <a:pt x="0" y="11707"/>
                  <a:pt x="0" y="26107"/>
                </a:cubicBezTo>
                <a:lnTo>
                  <a:pt x="0" y="182749"/>
                </a:lnTo>
                <a:cubicBezTo>
                  <a:pt x="0" y="197149"/>
                  <a:pt x="11707" y="208857"/>
                  <a:pt x="26107" y="208857"/>
                </a:cubicBezTo>
                <a:lnTo>
                  <a:pt x="130535" y="208857"/>
                </a:lnTo>
                <a:cubicBezTo>
                  <a:pt x="144935" y="208857"/>
                  <a:pt x="156642" y="197149"/>
                  <a:pt x="156642" y="182749"/>
                </a:cubicBezTo>
                <a:lnTo>
                  <a:pt x="156642" y="26107"/>
                </a:lnTo>
                <a:cubicBezTo>
                  <a:pt x="156642" y="11707"/>
                  <a:pt x="144935" y="0"/>
                  <a:pt x="130535" y="0"/>
                </a:cubicBezTo>
                <a:lnTo>
                  <a:pt x="26107" y="0"/>
                </a:lnTo>
                <a:close/>
                <a:moveTo>
                  <a:pt x="39161" y="26107"/>
                </a:moveTo>
                <a:lnTo>
                  <a:pt x="117482" y="26107"/>
                </a:lnTo>
                <a:cubicBezTo>
                  <a:pt x="124702" y="26107"/>
                  <a:pt x="130535" y="31940"/>
                  <a:pt x="130535" y="39161"/>
                </a:cubicBezTo>
                <a:lnTo>
                  <a:pt x="130535" y="52214"/>
                </a:lnTo>
                <a:cubicBezTo>
                  <a:pt x="130535" y="59434"/>
                  <a:pt x="124702" y="65268"/>
                  <a:pt x="117482" y="65268"/>
                </a:cubicBezTo>
                <a:lnTo>
                  <a:pt x="39161" y="65268"/>
                </a:lnTo>
                <a:cubicBezTo>
                  <a:pt x="31940" y="65268"/>
                  <a:pt x="26107" y="59434"/>
                  <a:pt x="26107" y="52214"/>
                </a:cubicBezTo>
                <a:lnTo>
                  <a:pt x="26107" y="39161"/>
                </a:lnTo>
                <a:cubicBezTo>
                  <a:pt x="26107" y="31940"/>
                  <a:pt x="31940" y="26107"/>
                  <a:pt x="39161" y="26107"/>
                </a:cubicBezTo>
                <a:close/>
                <a:moveTo>
                  <a:pt x="45687" y="94638"/>
                </a:moveTo>
                <a:cubicBezTo>
                  <a:pt x="45687" y="100041"/>
                  <a:pt x="41301" y="104428"/>
                  <a:pt x="35897" y="104428"/>
                </a:cubicBezTo>
                <a:cubicBezTo>
                  <a:pt x="30494" y="104428"/>
                  <a:pt x="26107" y="100041"/>
                  <a:pt x="26107" y="94638"/>
                </a:cubicBezTo>
                <a:cubicBezTo>
                  <a:pt x="26107" y="89235"/>
                  <a:pt x="30494" y="84848"/>
                  <a:pt x="35897" y="84848"/>
                </a:cubicBezTo>
                <a:cubicBezTo>
                  <a:pt x="41301" y="84848"/>
                  <a:pt x="45687" y="89235"/>
                  <a:pt x="45687" y="94638"/>
                </a:cubicBezTo>
                <a:close/>
                <a:moveTo>
                  <a:pt x="78321" y="104428"/>
                </a:moveTo>
                <a:cubicBezTo>
                  <a:pt x="72918" y="104428"/>
                  <a:pt x="68531" y="100041"/>
                  <a:pt x="68531" y="94638"/>
                </a:cubicBezTo>
                <a:cubicBezTo>
                  <a:pt x="68531" y="89235"/>
                  <a:pt x="72918" y="84848"/>
                  <a:pt x="78321" y="84848"/>
                </a:cubicBezTo>
                <a:cubicBezTo>
                  <a:pt x="83725" y="84848"/>
                  <a:pt x="88111" y="89235"/>
                  <a:pt x="88111" y="94638"/>
                </a:cubicBezTo>
                <a:cubicBezTo>
                  <a:pt x="88111" y="100041"/>
                  <a:pt x="83725" y="104428"/>
                  <a:pt x="78321" y="104428"/>
                </a:cubicBezTo>
                <a:close/>
                <a:moveTo>
                  <a:pt x="130535" y="94638"/>
                </a:moveTo>
                <a:cubicBezTo>
                  <a:pt x="130535" y="100041"/>
                  <a:pt x="126149" y="104428"/>
                  <a:pt x="120745" y="104428"/>
                </a:cubicBezTo>
                <a:cubicBezTo>
                  <a:pt x="115342" y="104428"/>
                  <a:pt x="110955" y="100041"/>
                  <a:pt x="110955" y="94638"/>
                </a:cubicBezTo>
                <a:cubicBezTo>
                  <a:pt x="110955" y="89235"/>
                  <a:pt x="115342" y="84848"/>
                  <a:pt x="120745" y="84848"/>
                </a:cubicBezTo>
                <a:cubicBezTo>
                  <a:pt x="126149" y="84848"/>
                  <a:pt x="130535" y="89235"/>
                  <a:pt x="130535" y="94638"/>
                </a:cubicBezTo>
                <a:close/>
                <a:moveTo>
                  <a:pt x="35897" y="143589"/>
                </a:moveTo>
                <a:cubicBezTo>
                  <a:pt x="30494" y="143589"/>
                  <a:pt x="26107" y="139202"/>
                  <a:pt x="26107" y="133799"/>
                </a:cubicBezTo>
                <a:cubicBezTo>
                  <a:pt x="26107" y="128395"/>
                  <a:pt x="30494" y="124009"/>
                  <a:pt x="35897" y="124009"/>
                </a:cubicBezTo>
                <a:cubicBezTo>
                  <a:pt x="41301" y="124009"/>
                  <a:pt x="45687" y="128395"/>
                  <a:pt x="45687" y="133799"/>
                </a:cubicBezTo>
                <a:cubicBezTo>
                  <a:pt x="45687" y="139202"/>
                  <a:pt x="41301" y="143589"/>
                  <a:pt x="35897" y="143589"/>
                </a:cubicBezTo>
                <a:close/>
                <a:moveTo>
                  <a:pt x="88111" y="133799"/>
                </a:moveTo>
                <a:cubicBezTo>
                  <a:pt x="88111" y="139202"/>
                  <a:pt x="83725" y="143589"/>
                  <a:pt x="78321" y="143589"/>
                </a:cubicBezTo>
                <a:cubicBezTo>
                  <a:pt x="72918" y="143589"/>
                  <a:pt x="68531" y="139202"/>
                  <a:pt x="68531" y="133799"/>
                </a:cubicBezTo>
                <a:cubicBezTo>
                  <a:pt x="68531" y="128395"/>
                  <a:pt x="72918" y="124009"/>
                  <a:pt x="78321" y="124009"/>
                </a:cubicBezTo>
                <a:cubicBezTo>
                  <a:pt x="83725" y="124009"/>
                  <a:pt x="88111" y="128395"/>
                  <a:pt x="88111" y="133799"/>
                </a:cubicBezTo>
                <a:close/>
                <a:moveTo>
                  <a:pt x="120745" y="143589"/>
                </a:moveTo>
                <a:cubicBezTo>
                  <a:pt x="115342" y="143589"/>
                  <a:pt x="110955" y="139202"/>
                  <a:pt x="110955" y="133799"/>
                </a:cubicBezTo>
                <a:cubicBezTo>
                  <a:pt x="110955" y="128395"/>
                  <a:pt x="115342" y="124009"/>
                  <a:pt x="120745" y="124009"/>
                </a:cubicBezTo>
                <a:cubicBezTo>
                  <a:pt x="126149" y="124009"/>
                  <a:pt x="130535" y="128395"/>
                  <a:pt x="130535" y="133799"/>
                </a:cubicBezTo>
                <a:cubicBezTo>
                  <a:pt x="130535" y="139202"/>
                  <a:pt x="126149" y="143589"/>
                  <a:pt x="120745" y="143589"/>
                </a:cubicBezTo>
                <a:close/>
                <a:moveTo>
                  <a:pt x="26107" y="172959"/>
                </a:moveTo>
                <a:cubicBezTo>
                  <a:pt x="26107" y="167534"/>
                  <a:pt x="30472" y="163169"/>
                  <a:pt x="35897" y="163169"/>
                </a:cubicBezTo>
                <a:lnTo>
                  <a:pt x="81585" y="163169"/>
                </a:lnTo>
                <a:cubicBezTo>
                  <a:pt x="87010" y="163169"/>
                  <a:pt x="91375" y="167534"/>
                  <a:pt x="91375" y="172959"/>
                </a:cubicBezTo>
                <a:cubicBezTo>
                  <a:pt x="91375" y="178385"/>
                  <a:pt x="87010" y="182749"/>
                  <a:pt x="81585" y="182749"/>
                </a:cubicBezTo>
                <a:lnTo>
                  <a:pt x="35897" y="182749"/>
                </a:lnTo>
                <a:cubicBezTo>
                  <a:pt x="30472" y="182749"/>
                  <a:pt x="26107" y="178385"/>
                  <a:pt x="26107" y="172959"/>
                </a:cubicBezTo>
                <a:close/>
                <a:moveTo>
                  <a:pt x="120745" y="163169"/>
                </a:moveTo>
                <a:cubicBezTo>
                  <a:pt x="126171" y="163169"/>
                  <a:pt x="130535" y="167534"/>
                  <a:pt x="130535" y="172959"/>
                </a:cubicBezTo>
                <a:cubicBezTo>
                  <a:pt x="130535" y="178385"/>
                  <a:pt x="126171" y="182749"/>
                  <a:pt x="120745" y="182749"/>
                </a:cubicBezTo>
                <a:cubicBezTo>
                  <a:pt x="115320" y="182749"/>
                  <a:pt x="110955" y="178385"/>
                  <a:pt x="110955" y="172959"/>
                </a:cubicBezTo>
                <a:cubicBezTo>
                  <a:pt x="110955" y="167534"/>
                  <a:pt x="115320" y="163169"/>
                  <a:pt x="120745" y="163169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66" name="Text 64"/>
          <p:cNvSpPr/>
          <p:nvPr/>
        </p:nvSpPr>
        <p:spPr>
          <a:xfrm>
            <a:off x="7854148" y="4728281"/>
            <a:ext cx="126184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Statistical Analysis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488649" y="5076375"/>
            <a:ext cx="424674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Descriptive statistics (weighted frequencies)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488649" y="5354851"/>
            <a:ext cx="424674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Bivariate analysis (Chi-square, Cramér's V)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488649" y="5633326"/>
            <a:ext cx="424674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Lasso regularization for variable selection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488649" y="5911802"/>
            <a:ext cx="424674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096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Multinomial logistic regression (RRR, 95% CI)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488649" y="6227987"/>
            <a:ext cx="4177131" cy="5802"/>
          </a:xfrm>
          <a:custGeom>
            <a:avLst/>
            <a:gdLst/>
            <a:ahLst/>
            <a:cxnLst/>
            <a:rect l="l" t="t" r="r" b="b"/>
            <a:pathLst>
              <a:path w="4177131" h="5802">
                <a:moveTo>
                  <a:pt x="0" y="0"/>
                </a:moveTo>
                <a:lnTo>
                  <a:pt x="4177131" y="0"/>
                </a:lnTo>
                <a:lnTo>
                  <a:pt x="4177131" y="5802"/>
                </a:lnTo>
                <a:lnTo>
                  <a:pt x="0" y="5802"/>
                </a:lnTo>
                <a:lnTo>
                  <a:pt x="0" y="0"/>
                </a:lnTo>
                <a:close/>
              </a:path>
            </a:pathLst>
          </a:custGeom>
          <a:solidFill>
            <a:srgbClr val="5A6F7B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7506054" y="6358522"/>
            <a:ext cx="121833" cy="121833"/>
          </a:xfrm>
          <a:custGeom>
            <a:avLst/>
            <a:gdLst/>
            <a:ahLst/>
            <a:cxnLst/>
            <a:rect l="l" t="t" r="r" b="b"/>
            <a:pathLst>
              <a:path w="121833" h="121833">
                <a:moveTo>
                  <a:pt x="60916" y="121833"/>
                </a:moveTo>
                <a:cubicBezTo>
                  <a:pt x="94537" y="121833"/>
                  <a:pt x="121833" y="94537"/>
                  <a:pt x="121833" y="60916"/>
                </a:cubicBezTo>
                <a:cubicBezTo>
                  <a:pt x="121833" y="27296"/>
                  <a:pt x="94537" y="0"/>
                  <a:pt x="60916" y="0"/>
                </a:cubicBezTo>
                <a:cubicBezTo>
                  <a:pt x="27296" y="0"/>
                  <a:pt x="0" y="27296"/>
                  <a:pt x="0" y="60916"/>
                </a:cubicBezTo>
                <a:cubicBezTo>
                  <a:pt x="0" y="94537"/>
                  <a:pt x="27296" y="121833"/>
                  <a:pt x="60916" y="121833"/>
                </a:cubicBezTo>
                <a:close/>
                <a:moveTo>
                  <a:pt x="53302" y="38073"/>
                </a:moveTo>
                <a:cubicBezTo>
                  <a:pt x="53302" y="33870"/>
                  <a:pt x="56714" y="30458"/>
                  <a:pt x="60916" y="30458"/>
                </a:cubicBezTo>
                <a:cubicBezTo>
                  <a:pt x="65119" y="30458"/>
                  <a:pt x="68531" y="33870"/>
                  <a:pt x="68531" y="38073"/>
                </a:cubicBezTo>
                <a:cubicBezTo>
                  <a:pt x="68531" y="42275"/>
                  <a:pt x="65119" y="45687"/>
                  <a:pt x="60916" y="45687"/>
                </a:cubicBezTo>
                <a:cubicBezTo>
                  <a:pt x="56714" y="45687"/>
                  <a:pt x="53302" y="42275"/>
                  <a:pt x="53302" y="38073"/>
                </a:cubicBezTo>
                <a:close/>
                <a:moveTo>
                  <a:pt x="51398" y="53302"/>
                </a:moveTo>
                <a:lnTo>
                  <a:pt x="62820" y="53302"/>
                </a:lnTo>
                <a:cubicBezTo>
                  <a:pt x="65985" y="53302"/>
                  <a:pt x="68531" y="55848"/>
                  <a:pt x="68531" y="59013"/>
                </a:cubicBezTo>
                <a:lnTo>
                  <a:pt x="68531" y="79953"/>
                </a:lnTo>
                <a:lnTo>
                  <a:pt x="70435" y="79953"/>
                </a:lnTo>
                <a:cubicBezTo>
                  <a:pt x="73599" y="79953"/>
                  <a:pt x="76146" y="82499"/>
                  <a:pt x="76146" y="85664"/>
                </a:cubicBezTo>
                <a:cubicBezTo>
                  <a:pt x="76146" y="88829"/>
                  <a:pt x="73599" y="91375"/>
                  <a:pt x="70435" y="91375"/>
                </a:cubicBezTo>
                <a:lnTo>
                  <a:pt x="51398" y="91375"/>
                </a:lnTo>
                <a:cubicBezTo>
                  <a:pt x="48233" y="91375"/>
                  <a:pt x="45687" y="88829"/>
                  <a:pt x="45687" y="85664"/>
                </a:cubicBezTo>
                <a:cubicBezTo>
                  <a:pt x="45687" y="82499"/>
                  <a:pt x="48233" y="79953"/>
                  <a:pt x="51398" y="79953"/>
                </a:cubicBezTo>
                <a:lnTo>
                  <a:pt x="57109" y="79953"/>
                </a:lnTo>
                <a:lnTo>
                  <a:pt x="57109" y="64724"/>
                </a:lnTo>
                <a:lnTo>
                  <a:pt x="51398" y="64724"/>
                </a:lnTo>
                <a:cubicBezTo>
                  <a:pt x="48233" y="64724"/>
                  <a:pt x="45687" y="62178"/>
                  <a:pt x="45687" y="59013"/>
                </a:cubicBezTo>
                <a:cubicBezTo>
                  <a:pt x="45687" y="55848"/>
                  <a:pt x="48233" y="53302"/>
                  <a:pt x="51398" y="53302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73" name="Text 71"/>
          <p:cNvSpPr/>
          <p:nvPr/>
        </p:nvSpPr>
        <p:spPr>
          <a:xfrm>
            <a:off x="7669144" y="6335315"/>
            <a:ext cx="405755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weights (v005) applied throughout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Sample Characteristics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Sociodemographic and reproductive profile of 6,546 married, non-pregnant women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62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752600"/>
            <a:ext cx="3686175" cy="2133600"/>
          </a:xfrm>
          <a:custGeom>
            <a:avLst/>
            <a:gdLst/>
            <a:ahLst/>
            <a:cxnLst/>
            <a:rect l="l" t="t" r="r" b="b"/>
            <a:pathLst>
              <a:path w="3686175" h="2133600">
                <a:moveTo>
                  <a:pt x="38100" y="0"/>
                </a:moveTo>
                <a:lnTo>
                  <a:pt x="3609984" y="0"/>
                </a:lnTo>
                <a:cubicBezTo>
                  <a:pt x="3652035" y="0"/>
                  <a:pt x="3686175" y="34140"/>
                  <a:pt x="3686175" y="76191"/>
                </a:cubicBezTo>
                <a:lnTo>
                  <a:pt x="3686175" y="2057409"/>
                </a:lnTo>
                <a:cubicBezTo>
                  <a:pt x="3686175" y="2099460"/>
                  <a:pt x="3652035" y="2133600"/>
                  <a:pt x="3609984" y="2133600"/>
                </a:cubicBez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752600"/>
            <a:ext cx="38100" cy="2133600"/>
          </a:xfrm>
          <a:custGeom>
            <a:avLst/>
            <a:gdLst/>
            <a:ahLst/>
            <a:cxnLst/>
            <a:rect l="l" t="t" r="r" b="b"/>
            <a:pathLst>
              <a:path w="38100" h="2133600">
                <a:moveTo>
                  <a:pt x="38100" y="0"/>
                </a:moveTo>
                <a:lnTo>
                  <a:pt x="38100" y="0"/>
                </a:lnTo>
                <a:lnTo>
                  <a:pt x="38100" y="2133600"/>
                </a:ln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8" name="Shape 6"/>
          <p:cNvSpPr/>
          <p:nvPr/>
        </p:nvSpPr>
        <p:spPr>
          <a:xfrm>
            <a:off x="573881" y="19526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9" name="Text 7"/>
          <p:cNvSpPr/>
          <p:nvPr/>
        </p:nvSpPr>
        <p:spPr>
          <a:xfrm>
            <a:off x="790575" y="1905000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86000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25–29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30303" y="22860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20.7%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59080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Urban residence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59771" y="259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47.7%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8956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Rural residence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5363" y="28956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52.3%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200400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Monogamous union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39828" y="32004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78.5%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35052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Polygynous union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15916" y="3505200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20.9%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4000500"/>
            <a:ext cx="3686175" cy="1828800"/>
          </a:xfrm>
          <a:custGeom>
            <a:avLst/>
            <a:gdLst/>
            <a:ahLst/>
            <a:cxnLst/>
            <a:rect l="l" t="t" r="r" b="b"/>
            <a:pathLst>
              <a:path w="3686175" h="1828800">
                <a:moveTo>
                  <a:pt x="38100" y="0"/>
                </a:moveTo>
                <a:lnTo>
                  <a:pt x="3609969" y="0"/>
                </a:lnTo>
                <a:cubicBezTo>
                  <a:pt x="3652056" y="0"/>
                  <a:pt x="3686175" y="34119"/>
                  <a:pt x="3686175" y="76206"/>
                </a:cubicBezTo>
                <a:lnTo>
                  <a:pt x="3686175" y="1752594"/>
                </a:lnTo>
                <a:cubicBezTo>
                  <a:pt x="3686175" y="1794681"/>
                  <a:pt x="3652056" y="1828800"/>
                  <a:pt x="3609969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0050" y="40005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22" name="Shape 20"/>
          <p:cNvSpPr/>
          <p:nvPr/>
        </p:nvSpPr>
        <p:spPr>
          <a:xfrm>
            <a:off x="584597" y="42005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23" name="Text 21"/>
          <p:cNvSpPr/>
          <p:nvPr/>
        </p:nvSpPr>
        <p:spPr>
          <a:xfrm>
            <a:off x="790575" y="4152900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453390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education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68601" y="453390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25.1%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4838700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32287" y="48387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32.8%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514350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26830" y="51435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36.9%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54483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16921" y="5448300"/>
            <a:ext cx="40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5.2%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60850" y="1752600"/>
            <a:ext cx="3686175" cy="2867025"/>
          </a:xfrm>
          <a:custGeom>
            <a:avLst/>
            <a:gdLst/>
            <a:ahLst/>
            <a:cxnLst/>
            <a:rect l="l" t="t" r="r" b="b"/>
            <a:pathLst>
              <a:path w="3686175" h="2867025">
                <a:moveTo>
                  <a:pt x="38100" y="0"/>
                </a:moveTo>
                <a:lnTo>
                  <a:pt x="3609969" y="0"/>
                </a:lnTo>
                <a:cubicBezTo>
                  <a:pt x="3652057" y="0"/>
                  <a:pt x="3686175" y="34118"/>
                  <a:pt x="3686175" y="76206"/>
                </a:cubicBezTo>
                <a:lnTo>
                  <a:pt x="3686175" y="2790819"/>
                </a:lnTo>
                <a:cubicBezTo>
                  <a:pt x="3686175" y="2832907"/>
                  <a:pt x="3652057" y="2867025"/>
                  <a:pt x="3609969" y="2867025"/>
                </a:cubicBezTo>
                <a:lnTo>
                  <a:pt x="38100" y="2867025"/>
                </a:lnTo>
                <a:cubicBezTo>
                  <a:pt x="17072" y="2867025"/>
                  <a:pt x="0" y="2849953"/>
                  <a:pt x="0" y="2828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60850" y="1752600"/>
            <a:ext cx="38100" cy="2867025"/>
          </a:xfrm>
          <a:custGeom>
            <a:avLst/>
            <a:gdLst/>
            <a:ahLst/>
            <a:cxnLst/>
            <a:rect l="l" t="t" r="r" b="b"/>
            <a:pathLst>
              <a:path w="38100" h="2867025">
                <a:moveTo>
                  <a:pt x="38100" y="0"/>
                </a:moveTo>
                <a:lnTo>
                  <a:pt x="38100" y="0"/>
                </a:lnTo>
                <a:lnTo>
                  <a:pt x="38100" y="2867025"/>
                </a:lnTo>
                <a:lnTo>
                  <a:pt x="38100" y="2867025"/>
                </a:lnTo>
                <a:cubicBezTo>
                  <a:pt x="17072" y="2867025"/>
                  <a:pt x="0" y="2849953"/>
                  <a:pt x="0" y="2828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4" name="Shape 32"/>
          <p:cNvSpPr/>
          <p:nvPr/>
        </p:nvSpPr>
        <p:spPr>
          <a:xfrm>
            <a:off x="4456113" y="1952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32147"/>
                </a:moveTo>
                <a:lnTo>
                  <a:pt x="42863" y="26789"/>
                </a:lnTo>
                <a:cubicBezTo>
                  <a:pt x="42863" y="11988"/>
                  <a:pt x="71661" y="0"/>
                  <a:pt x="107156" y="0"/>
                </a:cubicBezTo>
                <a:cubicBezTo>
                  <a:pt x="142652" y="0"/>
                  <a:pt x="171450" y="11988"/>
                  <a:pt x="171450" y="26789"/>
                </a:cubicBezTo>
                <a:lnTo>
                  <a:pt x="171450" y="32147"/>
                </a:lnTo>
                <a:cubicBezTo>
                  <a:pt x="171450" y="42394"/>
                  <a:pt x="157620" y="51301"/>
                  <a:pt x="137294" y="55822"/>
                </a:cubicBezTo>
                <a:cubicBezTo>
                  <a:pt x="136490" y="54884"/>
                  <a:pt x="135653" y="53980"/>
                  <a:pt x="134816" y="53143"/>
                </a:cubicBezTo>
                <a:cubicBezTo>
                  <a:pt x="129626" y="48019"/>
                  <a:pt x="122928" y="44135"/>
                  <a:pt x="115930" y="41255"/>
                </a:cubicBezTo>
                <a:cubicBezTo>
                  <a:pt x="101899" y="35395"/>
                  <a:pt x="83615" y="32180"/>
                  <a:pt x="64294" y="32180"/>
                </a:cubicBezTo>
                <a:cubicBezTo>
                  <a:pt x="56960" y="32180"/>
                  <a:pt x="49794" y="32649"/>
                  <a:pt x="42929" y="33553"/>
                </a:cubicBezTo>
                <a:cubicBezTo>
                  <a:pt x="42863" y="33118"/>
                  <a:pt x="42863" y="32649"/>
                  <a:pt x="42863" y="32180"/>
                </a:cubicBezTo>
                <a:close/>
                <a:moveTo>
                  <a:pt x="144661" y="118207"/>
                </a:moveTo>
                <a:lnTo>
                  <a:pt x="144661" y="102736"/>
                </a:lnTo>
                <a:cubicBezTo>
                  <a:pt x="149717" y="101430"/>
                  <a:pt x="154472" y="99890"/>
                  <a:pt x="158792" y="98081"/>
                </a:cubicBezTo>
                <a:cubicBezTo>
                  <a:pt x="163212" y="96240"/>
                  <a:pt x="167532" y="93996"/>
                  <a:pt x="171450" y="91284"/>
                </a:cubicBezTo>
                <a:lnTo>
                  <a:pt x="171450" y="96441"/>
                </a:lnTo>
                <a:cubicBezTo>
                  <a:pt x="171450" y="105415"/>
                  <a:pt x="160902" y="113351"/>
                  <a:pt x="144661" y="118207"/>
                </a:cubicBezTo>
                <a:close/>
                <a:moveTo>
                  <a:pt x="144661" y="86060"/>
                </a:moveTo>
                <a:lnTo>
                  <a:pt x="144661" y="75009"/>
                </a:lnTo>
                <a:cubicBezTo>
                  <a:pt x="144661" y="73502"/>
                  <a:pt x="144527" y="72063"/>
                  <a:pt x="144326" y="70656"/>
                </a:cubicBezTo>
                <a:cubicBezTo>
                  <a:pt x="149516" y="69350"/>
                  <a:pt x="154372" y="67776"/>
                  <a:pt x="158792" y="65901"/>
                </a:cubicBezTo>
                <a:cubicBezTo>
                  <a:pt x="163212" y="64026"/>
                  <a:pt x="167532" y="61816"/>
                  <a:pt x="171450" y="59103"/>
                </a:cubicBezTo>
                <a:lnTo>
                  <a:pt x="171450" y="64260"/>
                </a:lnTo>
                <a:cubicBezTo>
                  <a:pt x="171450" y="73235"/>
                  <a:pt x="160902" y="81171"/>
                  <a:pt x="144661" y="86026"/>
                </a:cubicBezTo>
                <a:close/>
                <a:moveTo>
                  <a:pt x="0" y="80367"/>
                </a:moveTo>
                <a:lnTo>
                  <a:pt x="0" y="75009"/>
                </a:lnTo>
                <a:cubicBezTo>
                  <a:pt x="0" y="60208"/>
                  <a:pt x="28798" y="48220"/>
                  <a:pt x="64294" y="48220"/>
                </a:cubicBezTo>
                <a:cubicBezTo>
                  <a:pt x="99789" y="48220"/>
                  <a:pt x="128588" y="60208"/>
                  <a:pt x="128588" y="75009"/>
                </a:cubicBezTo>
                <a:lnTo>
                  <a:pt x="128588" y="80367"/>
                </a:lnTo>
                <a:cubicBezTo>
                  <a:pt x="128588" y="95168"/>
                  <a:pt x="99789" y="107156"/>
                  <a:pt x="64294" y="107156"/>
                </a:cubicBezTo>
                <a:cubicBezTo>
                  <a:pt x="28798" y="107156"/>
                  <a:pt x="0" y="95168"/>
                  <a:pt x="0" y="80367"/>
                </a:cubicBezTo>
                <a:close/>
                <a:moveTo>
                  <a:pt x="128588" y="112514"/>
                </a:moveTo>
                <a:cubicBezTo>
                  <a:pt x="128588" y="127315"/>
                  <a:pt x="99789" y="139303"/>
                  <a:pt x="64294" y="139303"/>
                </a:cubicBezTo>
                <a:cubicBezTo>
                  <a:pt x="28798" y="139303"/>
                  <a:pt x="0" y="127315"/>
                  <a:pt x="0" y="112514"/>
                </a:cubicBezTo>
                <a:lnTo>
                  <a:pt x="0" y="107357"/>
                </a:lnTo>
                <a:cubicBezTo>
                  <a:pt x="3884" y="110070"/>
                  <a:pt x="8204" y="112280"/>
                  <a:pt x="12658" y="114155"/>
                </a:cubicBezTo>
                <a:cubicBezTo>
                  <a:pt x="26689" y="120015"/>
                  <a:pt x="44972" y="123230"/>
                  <a:pt x="64294" y="123230"/>
                </a:cubicBezTo>
                <a:cubicBezTo>
                  <a:pt x="83615" y="123230"/>
                  <a:pt x="101899" y="119982"/>
                  <a:pt x="115930" y="114155"/>
                </a:cubicBezTo>
                <a:cubicBezTo>
                  <a:pt x="120350" y="112313"/>
                  <a:pt x="124670" y="110070"/>
                  <a:pt x="128588" y="107357"/>
                </a:cubicBezTo>
                <a:lnTo>
                  <a:pt x="128588" y="112514"/>
                </a:lnTo>
                <a:close/>
                <a:moveTo>
                  <a:pt x="128588" y="139504"/>
                </a:moveTo>
                <a:lnTo>
                  <a:pt x="128588" y="144661"/>
                </a:lnTo>
                <a:cubicBezTo>
                  <a:pt x="128588" y="159462"/>
                  <a:pt x="99789" y="171450"/>
                  <a:pt x="64294" y="171450"/>
                </a:cubicBezTo>
                <a:cubicBezTo>
                  <a:pt x="28798" y="171450"/>
                  <a:pt x="0" y="159462"/>
                  <a:pt x="0" y="144661"/>
                </a:cubicBezTo>
                <a:lnTo>
                  <a:pt x="0" y="139504"/>
                </a:lnTo>
                <a:cubicBezTo>
                  <a:pt x="3884" y="142216"/>
                  <a:pt x="8204" y="144427"/>
                  <a:pt x="12658" y="146302"/>
                </a:cubicBezTo>
                <a:cubicBezTo>
                  <a:pt x="26689" y="152162"/>
                  <a:pt x="44972" y="155377"/>
                  <a:pt x="64294" y="155377"/>
                </a:cubicBezTo>
                <a:cubicBezTo>
                  <a:pt x="83615" y="155377"/>
                  <a:pt x="101899" y="152128"/>
                  <a:pt x="115930" y="146302"/>
                </a:cubicBezTo>
                <a:cubicBezTo>
                  <a:pt x="120350" y="144460"/>
                  <a:pt x="124670" y="142216"/>
                  <a:pt x="128588" y="139504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5" name="Text 33"/>
          <p:cNvSpPr/>
          <p:nvPr/>
        </p:nvSpPr>
        <p:spPr>
          <a:xfrm>
            <a:off x="4651375" y="1905000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Wealth &amp; Employment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32300" y="22860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Poorest quintile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41903" y="2286000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17.4%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32300" y="25908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12435" y="259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21.0%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32300" y="28956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96659" y="28956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23.3%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32300" y="3200400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12435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20.1%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32300" y="3505200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Richest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26325" y="350520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18.2%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32300" y="3851275"/>
            <a:ext cx="3362325" cy="6350"/>
          </a:xfrm>
          <a:custGeom>
            <a:avLst/>
            <a:gdLst/>
            <a:ahLst/>
            <a:cxnLst/>
            <a:rect l="l" t="t" r="r" b="b"/>
            <a:pathLst>
              <a:path w="3362325" h="6350">
                <a:moveTo>
                  <a:pt x="0" y="0"/>
                </a:moveTo>
                <a:lnTo>
                  <a:pt x="3362325" y="0"/>
                </a:lnTo>
                <a:lnTo>
                  <a:pt x="33623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432300" y="3968753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 working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385050" y="3968753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69.9%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432300" y="4235453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Husbands working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87233" y="4235453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95.6%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260850" y="4730753"/>
            <a:ext cx="3686175" cy="1828800"/>
          </a:xfrm>
          <a:custGeom>
            <a:avLst/>
            <a:gdLst/>
            <a:ahLst/>
            <a:cxnLst/>
            <a:rect l="l" t="t" r="r" b="b"/>
            <a:pathLst>
              <a:path w="3686175" h="1828800">
                <a:moveTo>
                  <a:pt x="38100" y="0"/>
                </a:moveTo>
                <a:lnTo>
                  <a:pt x="3609969" y="0"/>
                </a:lnTo>
                <a:cubicBezTo>
                  <a:pt x="3652056" y="0"/>
                  <a:pt x="3686175" y="34119"/>
                  <a:pt x="3686175" y="76206"/>
                </a:cubicBezTo>
                <a:lnTo>
                  <a:pt x="3686175" y="1752594"/>
                </a:lnTo>
                <a:cubicBezTo>
                  <a:pt x="3686175" y="1794681"/>
                  <a:pt x="3652056" y="1828800"/>
                  <a:pt x="3609969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260850" y="4730753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53" name="Shape 51"/>
          <p:cNvSpPr/>
          <p:nvPr/>
        </p:nvSpPr>
        <p:spPr>
          <a:xfrm>
            <a:off x="4434681" y="493077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75009" y="99120"/>
                </a:moveTo>
                <a:cubicBezTo>
                  <a:pt x="75009" y="103573"/>
                  <a:pt x="71426" y="107156"/>
                  <a:pt x="66973" y="107156"/>
                </a:cubicBezTo>
                <a:cubicBezTo>
                  <a:pt x="62519" y="107156"/>
                  <a:pt x="58936" y="103573"/>
                  <a:pt x="58936" y="99120"/>
                </a:cubicBezTo>
                <a:lnTo>
                  <a:pt x="58936" y="61414"/>
                </a:lnTo>
                <a:lnTo>
                  <a:pt x="88471" y="21331"/>
                </a:lnTo>
                <a:cubicBezTo>
                  <a:pt x="92858" y="15370"/>
                  <a:pt x="91585" y="6999"/>
                  <a:pt x="85625" y="2612"/>
                </a:cubicBezTo>
                <a:cubicBezTo>
                  <a:pt x="79664" y="-1775"/>
                  <a:pt x="71292" y="-502"/>
                  <a:pt x="66906" y="5458"/>
                </a:cubicBezTo>
                <a:lnTo>
                  <a:pt x="35663" y="47852"/>
                </a:lnTo>
                <a:cubicBezTo>
                  <a:pt x="29903" y="55654"/>
                  <a:pt x="26789" y="65131"/>
                  <a:pt x="26789" y="74875"/>
                </a:cubicBezTo>
                <a:lnTo>
                  <a:pt x="26789" y="111945"/>
                </a:lnTo>
                <a:lnTo>
                  <a:pt x="7334" y="118441"/>
                </a:lnTo>
                <a:cubicBezTo>
                  <a:pt x="2947" y="119881"/>
                  <a:pt x="0" y="123966"/>
                  <a:pt x="0" y="128588"/>
                </a:cubicBezTo>
                <a:lnTo>
                  <a:pt x="0" y="160734"/>
                </a:lnTo>
                <a:cubicBezTo>
                  <a:pt x="0" y="164083"/>
                  <a:pt x="1574" y="167264"/>
                  <a:pt x="4253" y="169273"/>
                </a:cubicBezTo>
                <a:cubicBezTo>
                  <a:pt x="6932" y="171283"/>
                  <a:pt x="10414" y="171952"/>
                  <a:pt x="13662" y="171015"/>
                </a:cubicBezTo>
                <a:lnTo>
                  <a:pt x="65365" y="156247"/>
                </a:lnTo>
                <a:cubicBezTo>
                  <a:pt x="83783" y="150990"/>
                  <a:pt x="96441" y="134180"/>
                  <a:pt x="96441" y="115026"/>
                </a:cubicBezTo>
                <a:lnTo>
                  <a:pt x="96441" y="75009"/>
                </a:lnTo>
                <a:cubicBezTo>
                  <a:pt x="96441" y="69082"/>
                  <a:pt x="91652" y="64294"/>
                  <a:pt x="85725" y="64294"/>
                </a:cubicBezTo>
                <a:cubicBezTo>
                  <a:pt x="79798" y="64294"/>
                  <a:pt x="75009" y="69082"/>
                  <a:pt x="75009" y="75009"/>
                </a:cubicBezTo>
                <a:lnTo>
                  <a:pt x="75009" y="99120"/>
                </a:lnTo>
                <a:close/>
                <a:moveTo>
                  <a:pt x="139303" y="99120"/>
                </a:moveTo>
                <a:lnTo>
                  <a:pt x="139303" y="75009"/>
                </a:lnTo>
                <a:cubicBezTo>
                  <a:pt x="139303" y="69082"/>
                  <a:pt x="134515" y="64294"/>
                  <a:pt x="128588" y="64294"/>
                </a:cubicBezTo>
                <a:cubicBezTo>
                  <a:pt x="122660" y="64294"/>
                  <a:pt x="117872" y="69082"/>
                  <a:pt x="117872" y="75009"/>
                </a:cubicBezTo>
                <a:lnTo>
                  <a:pt x="117872" y="115059"/>
                </a:lnTo>
                <a:cubicBezTo>
                  <a:pt x="117872" y="134213"/>
                  <a:pt x="130563" y="151023"/>
                  <a:pt x="148947" y="156281"/>
                </a:cubicBezTo>
                <a:lnTo>
                  <a:pt x="200650" y="171048"/>
                </a:lnTo>
                <a:cubicBezTo>
                  <a:pt x="203898" y="171986"/>
                  <a:pt x="207347" y="171316"/>
                  <a:pt x="210060" y="169307"/>
                </a:cubicBezTo>
                <a:cubicBezTo>
                  <a:pt x="212772" y="167298"/>
                  <a:pt x="214313" y="164083"/>
                  <a:pt x="214313" y="160734"/>
                </a:cubicBezTo>
                <a:lnTo>
                  <a:pt x="214313" y="128588"/>
                </a:lnTo>
                <a:cubicBezTo>
                  <a:pt x="214313" y="123966"/>
                  <a:pt x="211366" y="119881"/>
                  <a:pt x="206979" y="118408"/>
                </a:cubicBezTo>
                <a:lnTo>
                  <a:pt x="187523" y="111911"/>
                </a:lnTo>
                <a:lnTo>
                  <a:pt x="187523" y="74842"/>
                </a:lnTo>
                <a:cubicBezTo>
                  <a:pt x="187523" y="65131"/>
                  <a:pt x="184409" y="55654"/>
                  <a:pt x="178650" y="47818"/>
                </a:cubicBezTo>
                <a:lnTo>
                  <a:pt x="147407" y="5458"/>
                </a:lnTo>
                <a:cubicBezTo>
                  <a:pt x="143020" y="-502"/>
                  <a:pt x="134649" y="-1775"/>
                  <a:pt x="128688" y="2612"/>
                </a:cubicBezTo>
                <a:cubicBezTo>
                  <a:pt x="122727" y="6999"/>
                  <a:pt x="121455" y="15370"/>
                  <a:pt x="125842" y="21331"/>
                </a:cubicBezTo>
                <a:lnTo>
                  <a:pt x="155377" y="61414"/>
                </a:lnTo>
                <a:lnTo>
                  <a:pt x="155377" y="99120"/>
                </a:lnTo>
                <a:cubicBezTo>
                  <a:pt x="155377" y="103573"/>
                  <a:pt x="151794" y="107156"/>
                  <a:pt x="147340" y="107156"/>
                </a:cubicBezTo>
                <a:cubicBezTo>
                  <a:pt x="142886" y="107156"/>
                  <a:pt x="139303" y="103573"/>
                  <a:pt x="139303" y="9912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54" name="Text 52"/>
          <p:cNvSpPr/>
          <p:nvPr/>
        </p:nvSpPr>
        <p:spPr>
          <a:xfrm>
            <a:off x="4651375" y="4883153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Religion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432300" y="5264153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Catholic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00925" y="5264153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34.4%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432300" y="5568953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Protestant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406085" y="5568953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26.7%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432300" y="5873753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405886" y="5873753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27.9%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32300" y="6178553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Muslim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486055" y="6178553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7.3%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21650" y="1752600"/>
            <a:ext cx="3686175" cy="1828800"/>
          </a:xfrm>
          <a:custGeom>
            <a:avLst/>
            <a:gdLst/>
            <a:ahLst/>
            <a:cxnLst/>
            <a:rect l="l" t="t" r="r" b="b"/>
            <a:pathLst>
              <a:path w="3686175" h="1828800">
                <a:moveTo>
                  <a:pt x="38100" y="0"/>
                </a:moveTo>
                <a:lnTo>
                  <a:pt x="3609969" y="0"/>
                </a:lnTo>
                <a:cubicBezTo>
                  <a:pt x="3652056" y="0"/>
                  <a:pt x="3686175" y="34119"/>
                  <a:pt x="3686175" y="76206"/>
                </a:cubicBezTo>
                <a:lnTo>
                  <a:pt x="3686175" y="1752594"/>
                </a:lnTo>
                <a:cubicBezTo>
                  <a:pt x="3686175" y="1794681"/>
                  <a:pt x="3652056" y="1828800"/>
                  <a:pt x="3609969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121650" y="17526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65" name="Shape 63"/>
          <p:cNvSpPr/>
          <p:nvPr/>
        </p:nvSpPr>
        <p:spPr>
          <a:xfrm>
            <a:off x="8338344" y="19526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0184" y="29468"/>
                </a:moveTo>
                <a:cubicBezTo>
                  <a:pt x="40184" y="16161"/>
                  <a:pt x="50987" y="5358"/>
                  <a:pt x="64294" y="5358"/>
                </a:cubicBezTo>
                <a:cubicBezTo>
                  <a:pt x="77601" y="5358"/>
                  <a:pt x="88404" y="16161"/>
                  <a:pt x="88404" y="29468"/>
                </a:cubicBezTo>
                <a:cubicBezTo>
                  <a:pt x="88404" y="42775"/>
                  <a:pt x="77601" y="53578"/>
                  <a:pt x="64294" y="53578"/>
                </a:cubicBezTo>
                <a:cubicBezTo>
                  <a:pt x="50987" y="53578"/>
                  <a:pt x="40184" y="42775"/>
                  <a:pt x="40184" y="29468"/>
                </a:cubicBezTo>
                <a:close/>
                <a:moveTo>
                  <a:pt x="2578" y="48388"/>
                </a:moveTo>
                <a:cubicBezTo>
                  <a:pt x="6932" y="42394"/>
                  <a:pt x="15303" y="41088"/>
                  <a:pt x="21297" y="45441"/>
                </a:cubicBezTo>
                <a:lnTo>
                  <a:pt x="33419" y="54248"/>
                </a:lnTo>
                <a:cubicBezTo>
                  <a:pt x="42394" y="60778"/>
                  <a:pt x="53210" y="64294"/>
                  <a:pt x="64294" y="64294"/>
                </a:cubicBezTo>
                <a:cubicBezTo>
                  <a:pt x="75378" y="64294"/>
                  <a:pt x="86194" y="60778"/>
                  <a:pt x="95168" y="54248"/>
                </a:cubicBezTo>
                <a:lnTo>
                  <a:pt x="107290" y="45407"/>
                </a:lnTo>
                <a:cubicBezTo>
                  <a:pt x="113284" y="41054"/>
                  <a:pt x="121656" y="42394"/>
                  <a:pt x="126009" y="48354"/>
                </a:cubicBezTo>
                <a:cubicBezTo>
                  <a:pt x="130362" y="54315"/>
                  <a:pt x="129023" y="62720"/>
                  <a:pt x="123062" y="67073"/>
                </a:cubicBezTo>
                <a:lnTo>
                  <a:pt x="110940" y="75914"/>
                </a:lnTo>
                <a:cubicBezTo>
                  <a:pt x="106386" y="79229"/>
                  <a:pt x="101531" y="82008"/>
                  <a:pt x="96441" y="84285"/>
                </a:cubicBezTo>
                <a:lnTo>
                  <a:pt x="96441" y="96441"/>
                </a:lnTo>
                <a:lnTo>
                  <a:pt x="32147" y="96441"/>
                </a:lnTo>
                <a:lnTo>
                  <a:pt x="32147" y="84285"/>
                </a:lnTo>
                <a:cubicBezTo>
                  <a:pt x="27057" y="82042"/>
                  <a:pt x="22201" y="79229"/>
                  <a:pt x="17647" y="75914"/>
                </a:cubicBezTo>
                <a:lnTo>
                  <a:pt x="5525" y="67073"/>
                </a:lnTo>
                <a:cubicBezTo>
                  <a:pt x="-469" y="62720"/>
                  <a:pt x="-1775" y="54348"/>
                  <a:pt x="2578" y="48354"/>
                </a:cubicBezTo>
                <a:close/>
                <a:moveTo>
                  <a:pt x="32649" y="110270"/>
                </a:moveTo>
                <a:lnTo>
                  <a:pt x="52942" y="128018"/>
                </a:lnTo>
                <a:lnTo>
                  <a:pt x="44235" y="140475"/>
                </a:lnTo>
                <a:lnTo>
                  <a:pt x="52373" y="148612"/>
                </a:lnTo>
                <a:cubicBezTo>
                  <a:pt x="57596" y="153836"/>
                  <a:pt x="57596" y="162308"/>
                  <a:pt x="52373" y="167566"/>
                </a:cubicBezTo>
                <a:cubicBezTo>
                  <a:pt x="47149" y="172823"/>
                  <a:pt x="38677" y="172789"/>
                  <a:pt x="33419" y="167566"/>
                </a:cubicBezTo>
                <a:lnTo>
                  <a:pt x="17346" y="151492"/>
                </a:lnTo>
                <a:cubicBezTo>
                  <a:pt x="12725" y="146871"/>
                  <a:pt x="12089" y="139638"/>
                  <a:pt x="15806" y="134314"/>
                </a:cubicBezTo>
                <a:lnTo>
                  <a:pt x="32616" y="110270"/>
                </a:lnTo>
                <a:close/>
                <a:moveTo>
                  <a:pt x="75679" y="128018"/>
                </a:moveTo>
                <a:lnTo>
                  <a:pt x="95972" y="110270"/>
                </a:lnTo>
                <a:lnTo>
                  <a:pt x="112782" y="134314"/>
                </a:lnTo>
                <a:cubicBezTo>
                  <a:pt x="116499" y="139638"/>
                  <a:pt x="115863" y="146871"/>
                  <a:pt x="111275" y="151459"/>
                </a:cubicBezTo>
                <a:lnTo>
                  <a:pt x="95202" y="167532"/>
                </a:lnTo>
                <a:cubicBezTo>
                  <a:pt x="89978" y="172756"/>
                  <a:pt x="81506" y="172756"/>
                  <a:pt x="76248" y="167532"/>
                </a:cubicBezTo>
                <a:cubicBezTo>
                  <a:pt x="70991" y="162308"/>
                  <a:pt x="71025" y="153836"/>
                  <a:pt x="76248" y="148579"/>
                </a:cubicBezTo>
                <a:lnTo>
                  <a:pt x="84386" y="140442"/>
                </a:lnTo>
                <a:lnTo>
                  <a:pt x="75679" y="127985"/>
                </a:ln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66" name="Text 64"/>
          <p:cNvSpPr/>
          <p:nvPr/>
        </p:nvSpPr>
        <p:spPr>
          <a:xfrm>
            <a:off x="8512175" y="1905000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Reproductive History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293100" y="22860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children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329095" y="2286000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6.8%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293100" y="259080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1–2 children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236127" y="2590800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33.0%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293100" y="289560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3–4 children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319967" y="2895600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31.1%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293100" y="32004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 children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258848" y="32004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29.2%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121650" y="3695700"/>
            <a:ext cx="3686175" cy="1828800"/>
          </a:xfrm>
          <a:custGeom>
            <a:avLst/>
            <a:gdLst/>
            <a:ahLst/>
            <a:cxnLst/>
            <a:rect l="l" t="t" r="r" b="b"/>
            <a:pathLst>
              <a:path w="3686175" h="1828800">
                <a:moveTo>
                  <a:pt x="38100" y="0"/>
                </a:moveTo>
                <a:lnTo>
                  <a:pt x="3609969" y="0"/>
                </a:lnTo>
                <a:cubicBezTo>
                  <a:pt x="3652056" y="0"/>
                  <a:pt x="3686175" y="34119"/>
                  <a:pt x="3686175" y="76206"/>
                </a:cubicBezTo>
                <a:lnTo>
                  <a:pt x="3686175" y="1752594"/>
                </a:lnTo>
                <a:cubicBezTo>
                  <a:pt x="3686175" y="1794681"/>
                  <a:pt x="3652056" y="1828800"/>
                  <a:pt x="3609969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8121650" y="36957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77" name="Shape 75"/>
          <p:cNvSpPr/>
          <p:nvPr/>
        </p:nvSpPr>
        <p:spPr>
          <a:xfrm>
            <a:off x="8306197" y="38957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42863" y="21431"/>
                </a:moveTo>
                <a:cubicBezTo>
                  <a:pt x="42863" y="9611"/>
                  <a:pt x="52473" y="0"/>
                  <a:pt x="64294" y="0"/>
                </a:cubicBezTo>
                <a:lnTo>
                  <a:pt x="128588" y="0"/>
                </a:lnTo>
                <a:cubicBezTo>
                  <a:pt x="140408" y="0"/>
                  <a:pt x="150019" y="9611"/>
                  <a:pt x="150019" y="21431"/>
                </a:cubicBezTo>
                <a:lnTo>
                  <a:pt x="150019" y="42863"/>
                </a:lnTo>
                <a:lnTo>
                  <a:pt x="171450" y="42863"/>
                </a:lnTo>
                <a:cubicBezTo>
                  <a:pt x="183271" y="42863"/>
                  <a:pt x="192881" y="52473"/>
                  <a:pt x="192881" y="64294"/>
                </a:cubicBezTo>
                <a:lnTo>
                  <a:pt x="192881" y="150019"/>
                </a:lnTo>
                <a:cubicBezTo>
                  <a:pt x="192881" y="161839"/>
                  <a:pt x="183271" y="171450"/>
                  <a:pt x="171450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64294"/>
                </a:lnTo>
                <a:cubicBezTo>
                  <a:pt x="0" y="52473"/>
                  <a:pt x="9611" y="42863"/>
                  <a:pt x="21431" y="42863"/>
                </a:cubicBezTo>
                <a:lnTo>
                  <a:pt x="42863" y="42863"/>
                </a:lnTo>
                <a:lnTo>
                  <a:pt x="42863" y="21431"/>
                </a:lnTo>
                <a:close/>
                <a:moveTo>
                  <a:pt x="91083" y="117872"/>
                </a:moveTo>
                <a:cubicBezTo>
                  <a:pt x="85156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112514" y="155377"/>
                </a:lnTo>
                <a:lnTo>
                  <a:pt x="112514" y="128588"/>
                </a:lnTo>
                <a:cubicBezTo>
                  <a:pt x="112514" y="122660"/>
                  <a:pt x="107726" y="117872"/>
                  <a:pt x="101798" y="117872"/>
                </a:cubicBezTo>
                <a:lnTo>
                  <a:pt x="91083" y="117872"/>
                </a:lnTo>
                <a:close/>
                <a:moveTo>
                  <a:pt x="42863" y="123230"/>
                </a:moveTo>
                <a:lnTo>
                  <a:pt x="42863" y="112514"/>
                </a:lnTo>
                <a:cubicBezTo>
                  <a:pt x="42863" y="109567"/>
                  <a:pt x="40451" y="107156"/>
                  <a:pt x="37505" y="107156"/>
                </a:cubicBezTo>
                <a:lnTo>
                  <a:pt x="26789" y="107156"/>
                </a:lnTo>
                <a:cubicBezTo>
                  <a:pt x="23842" y="107156"/>
                  <a:pt x="21431" y="109567"/>
                  <a:pt x="21431" y="112514"/>
                </a:cubicBezTo>
                <a:lnTo>
                  <a:pt x="21431" y="123230"/>
                </a:lnTo>
                <a:cubicBezTo>
                  <a:pt x="21431" y="126176"/>
                  <a:pt x="23842" y="128588"/>
                  <a:pt x="26789" y="128588"/>
                </a:cubicBezTo>
                <a:lnTo>
                  <a:pt x="37505" y="128588"/>
                </a:lnTo>
                <a:cubicBezTo>
                  <a:pt x="40451" y="128588"/>
                  <a:pt x="42863" y="126176"/>
                  <a:pt x="42863" y="123230"/>
                </a:cubicBezTo>
                <a:close/>
                <a:moveTo>
                  <a:pt x="37505" y="85725"/>
                </a:moveTo>
                <a:cubicBezTo>
                  <a:pt x="40451" y="85725"/>
                  <a:pt x="42863" y="83314"/>
                  <a:pt x="42863" y="80367"/>
                </a:cubicBezTo>
                <a:lnTo>
                  <a:pt x="42863" y="69652"/>
                </a:lnTo>
                <a:cubicBezTo>
                  <a:pt x="42863" y="66705"/>
                  <a:pt x="40451" y="64294"/>
                  <a:pt x="37505" y="64294"/>
                </a:cubicBezTo>
                <a:lnTo>
                  <a:pt x="26789" y="64294"/>
                </a:lnTo>
                <a:cubicBezTo>
                  <a:pt x="23842" y="64294"/>
                  <a:pt x="21431" y="66705"/>
                  <a:pt x="21431" y="69652"/>
                </a:cubicBezTo>
                <a:lnTo>
                  <a:pt x="21431" y="80367"/>
                </a:lnTo>
                <a:cubicBezTo>
                  <a:pt x="21431" y="83314"/>
                  <a:pt x="23842" y="85725"/>
                  <a:pt x="26789" y="85725"/>
                </a:cubicBezTo>
                <a:lnTo>
                  <a:pt x="37505" y="85725"/>
                </a:lnTo>
                <a:close/>
                <a:moveTo>
                  <a:pt x="171450" y="123230"/>
                </a:moveTo>
                <a:lnTo>
                  <a:pt x="171450" y="112514"/>
                </a:lnTo>
                <a:cubicBezTo>
                  <a:pt x="171450" y="109567"/>
                  <a:pt x="169039" y="107156"/>
                  <a:pt x="166092" y="107156"/>
                </a:cubicBezTo>
                <a:lnTo>
                  <a:pt x="155377" y="107156"/>
                </a:lnTo>
                <a:cubicBezTo>
                  <a:pt x="152430" y="107156"/>
                  <a:pt x="150019" y="109567"/>
                  <a:pt x="150019" y="112514"/>
                </a:cubicBezTo>
                <a:lnTo>
                  <a:pt x="150019" y="123230"/>
                </a:lnTo>
                <a:cubicBezTo>
                  <a:pt x="150019" y="126176"/>
                  <a:pt x="152430" y="128588"/>
                  <a:pt x="155377" y="128588"/>
                </a:cubicBezTo>
                <a:lnTo>
                  <a:pt x="166092" y="128588"/>
                </a:lnTo>
                <a:cubicBezTo>
                  <a:pt x="169039" y="128588"/>
                  <a:pt x="171450" y="126176"/>
                  <a:pt x="171450" y="123230"/>
                </a:cubicBezTo>
                <a:close/>
                <a:moveTo>
                  <a:pt x="166092" y="85725"/>
                </a:moveTo>
                <a:cubicBezTo>
                  <a:pt x="169039" y="85725"/>
                  <a:pt x="171450" y="83314"/>
                  <a:pt x="171450" y="80367"/>
                </a:cubicBezTo>
                <a:lnTo>
                  <a:pt x="171450" y="69652"/>
                </a:lnTo>
                <a:cubicBezTo>
                  <a:pt x="171450" y="66705"/>
                  <a:pt x="169039" y="64294"/>
                  <a:pt x="166092" y="64294"/>
                </a:cubicBezTo>
                <a:lnTo>
                  <a:pt x="155377" y="64294"/>
                </a:lnTo>
                <a:cubicBezTo>
                  <a:pt x="152430" y="64294"/>
                  <a:pt x="150019" y="66705"/>
                  <a:pt x="150019" y="69652"/>
                </a:cubicBezTo>
                <a:lnTo>
                  <a:pt x="150019" y="80367"/>
                </a:lnTo>
                <a:cubicBezTo>
                  <a:pt x="150019" y="83314"/>
                  <a:pt x="152430" y="85725"/>
                  <a:pt x="155377" y="85725"/>
                </a:cubicBezTo>
                <a:lnTo>
                  <a:pt x="166092" y="85725"/>
                </a:lnTo>
                <a:close/>
                <a:moveTo>
                  <a:pt x="88404" y="34826"/>
                </a:moveTo>
                <a:lnTo>
                  <a:pt x="88404" y="45541"/>
                </a:lnTo>
                <a:lnTo>
                  <a:pt x="77688" y="45541"/>
                </a:lnTo>
                <a:cubicBezTo>
                  <a:pt x="74741" y="45541"/>
                  <a:pt x="72330" y="47952"/>
                  <a:pt x="72330" y="50899"/>
                </a:cubicBezTo>
                <a:lnTo>
                  <a:pt x="72330" y="56257"/>
                </a:lnTo>
                <a:cubicBezTo>
                  <a:pt x="72330" y="59204"/>
                  <a:pt x="74741" y="61615"/>
                  <a:pt x="77688" y="61615"/>
                </a:cubicBezTo>
                <a:lnTo>
                  <a:pt x="88404" y="61615"/>
                </a:lnTo>
                <a:lnTo>
                  <a:pt x="88404" y="72330"/>
                </a:lnTo>
                <a:cubicBezTo>
                  <a:pt x="88404" y="75277"/>
                  <a:pt x="90815" y="77688"/>
                  <a:pt x="93762" y="77688"/>
                </a:cubicBezTo>
                <a:lnTo>
                  <a:pt x="99120" y="77688"/>
                </a:lnTo>
                <a:cubicBezTo>
                  <a:pt x="102066" y="77688"/>
                  <a:pt x="104477" y="75277"/>
                  <a:pt x="104477" y="72330"/>
                </a:cubicBezTo>
                <a:lnTo>
                  <a:pt x="104477" y="61615"/>
                </a:lnTo>
                <a:lnTo>
                  <a:pt x="115193" y="61615"/>
                </a:lnTo>
                <a:cubicBezTo>
                  <a:pt x="118140" y="61615"/>
                  <a:pt x="120551" y="59204"/>
                  <a:pt x="120551" y="56257"/>
                </a:cubicBezTo>
                <a:lnTo>
                  <a:pt x="120551" y="50899"/>
                </a:lnTo>
                <a:cubicBezTo>
                  <a:pt x="120551" y="47952"/>
                  <a:pt x="118140" y="45541"/>
                  <a:pt x="115193" y="45541"/>
                </a:cubicBezTo>
                <a:lnTo>
                  <a:pt x="104477" y="45541"/>
                </a:lnTo>
                <a:lnTo>
                  <a:pt x="104477" y="34826"/>
                </a:lnTo>
                <a:cubicBezTo>
                  <a:pt x="104477" y="31879"/>
                  <a:pt x="102066" y="29468"/>
                  <a:pt x="99120" y="29468"/>
                </a:cubicBezTo>
                <a:lnTo>
                  <a:pt x="93762" y="29468"/>
                </a:lnTo>
                <a:cubicBezTo>
                  <a:pt x="90815" y="29468"/>
                  <a:pt x="88404" y="31879"/>
                  <a:pt x="88404" y="34826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78" name="Text 76"/>
          <p:cNvSpPr/>
          <p:nvPr/>
        </p:nvSpPr>
        <p:spPr>
          <a:xfrm>
            <a:off x="8512175" y="3848100"/>
            <a:ext cx="3228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Family Planning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293100" y="42291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 used FP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250414" y="42291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39.5%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293100" y="4533900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Unmet need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1266884" y="4533900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26.7%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293100" y="48387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 info at facility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1250414" y="483870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35.9%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293100" y="51435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 media exposure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1256963" y="51435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23.5%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102600" y="5638800"/>
            <a:ext cx="3705225" cy="800100"/>
          </a:xfrm>
          <a:custGeom>
            <a:avLst/>
            <a:gdLst/>
            <a:ahLst/>
            <a:cxnLst/>
            <a:rect l="l" t="t" r="r" b="b"/>
            <a:pathLst>
              <a:path w="3705225" h="800100">
                <a:moveTo>
                  <a:pt x="76202" y="0"/>
                </a:moveTo>
                <a:lnTo>
                  <a:pt x="3629023" y="0"/>
                </a:lnTo>
                <a:cubicBezTo>
                  <a:pt x="3671108" y="0"/>
                  <a:pt x="3705225" y="34117"/>
                  <a:pt x="3705225" y="76202"/>
                </a:cubicBezTo>
                <a:lnTo>
                  <a:pt x="3705225" y="723898"/>
                </a:lnTo>
                <a:cubicBezTo>
                  <a:pt x="3705225" y="765983"/>
                  <a:pt x="3671108" y="800100"/>
                  <a:pt x="36290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88" name="Shape 86"/>
          <p:cNvSpPr/>
          <p:nvPr/>
        </p:nvSpPr>
        <p:spPr>
          <a:xfrm>
            <a:off x="8274050" y="582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89" name="Text 87"/>
          <p:cNvSpPr/>
          <p:nvPr/>
        </p:nvSpPr>
        <p:spPr>
          <a:xfrm>
            <a:off x="8502650" y="5791200"/>
            <a:ext cx="32289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age: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25–34 years |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Largest group: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25–29 (20.7%)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3516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kern="0" spc="99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11849"/>
            <a:ext cx="11688124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Distribution of Family Planning Decisional Autonomy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1134975"/>
            <a:ext cx="1155315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decides on contraceptive use or non-use among married women in Cameroon?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911" y="1475637"/>
            <a:ext cx="719823" cy="35991"/>
          </a:xfrm>
          <a:custGeom>
            <a:avLst/>
            <a:gdLst/>
            <a:ahLst/>
            <a:cxnLst/>
            <a:rect l="l" t="t" r="r" b="b"/>
            <a:pathLst>
              <a:path w="719823" h="35991">
                <a:moveTo>
                  <a:pt x="0" y="0"/>
                </a:moveTo>
                <a:lnTo>
                  <a:pt x="719823" y="0"/>
                </a:lnTo>
                <a:lnTo>
                  <a:pt x="719823" y="35991"/>
                </a:lnTo>
                <a:lnTo>
                  <a:pt x="0" y="35991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6" name="Shape 4"/>
          <p:cNvSpPr/>
          <p:nvPr/>
        </p:nvSpPr>
        <p:spPr>
          <a:xfrm>
            <a:off x="359911" y="1655593"/>
            <a:ext cx="6190477" cy="4174973"/>
          </a:xfrm>
          <a:custGeom>
            <a:avLst/>
            <a:gdLst/>
            <a:ahLst/>
            <a:cxnLst/>
            <a:rect l="l" t="t" r="r" b="b"/>
            <a:pathLst>
              <a:path w="6190477" h="4174973">
                <a:moveTo>
                  <a:pt x="71977" y="0"/>
                </a:moveTo>
                <a:lnTo>
                  <a:pt x="6118500" y="0"/>
                </a:lnTo>
                <a:cubicBezTo>
                  <a:pt x="6158252" y="0"/>
                  <a:pt x="6190477" y="32225"/>
                  <a:pt x="6190477" y="71977"/>
                </a:cubicBezTo>
                <a:lnTo>
                  <a:pt x="6190477" y="4102996"/>
                </a:lnTo>
                <a:cubicBezTo>
                  <a:pt x="6190477" y="4142748"/>
                  <a:pt x="6158252" y="4174973"/>
                  <a:pt x="6118500" y="4174973"/>
                </a:cubicBezTo>
                <a:lnTo>
                  <a:pt x="71977" y="4174973"/>
                </a:lnTo>
                <a:cubicBezTo>
                  <a:pt x="32225" y="4174973"/>
                  <a:pt x="0" y="4142748"/>
                  <a:pt x="0" y="4102996"/>
                </a:cubicBezTo>
                <a:lnTo>
                  <a:pt x="0" y="71977"/>
                </a:lnTo>
                <a:cubicBezTo>
                  <a:pt x="0" y="32225"/>
                  <a:pt x="32225" y="0"/>
                  <a:pt x="7197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3987" dist="359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4878" y="1835548"/>
            <a:ext cx="592054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Decision-Making Patterns (N = 6,546)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9911" y="5974530"/>
            <a:ext cx="6190477" cy="755814"/>
          </a:xfrm>
          <a:custGeom>
            <a:avLst/>
            <a:gdLst/>
            <a:ahLst/>
            <a:cxnLst/>
            <a:rect l="l" t="t" r="r" b="b"/>
            <a:pathLst>
              <a:path w="6190477" h="755814">
                <a:moveTo>
                  <a:pt x="71984" y="0"/>
                </a:moveTo>
                <a:lnTo>
                  <a:pt x="6118493" y="0"/>
                </a:lnTo>
                <a:cubicBezTo>
                  <a:pt x="6158249" y="0"/>
                  <a:pt x="6190477" y="32228"/>
                  <a:pt x="6190477" y="71984"/>
                </a:cubicBezTo>
                <a:lnTo>
                  <a:pt x="6190477" y="683830"/>
                </a:lnTo>
                <a:cubicBezTo>
                  <a:pt x="6190477" y="723586"/>
                  <a:pt x="6158249" y="755814"/>
                  <a:pt x="6118493" y="755814"/>
                </a:cubicBezTo>
                <a:lnTo>
                  <a:pt x="71984" y="755814"/>
                </a:lnTo>
                <a:cubicBezTo>
                  <a:pt x="32228" y="755814"/>
                  <a:pt x="0" y="723586"/>
                  <a:pt x="0" y="683830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10" name="Shape 7"/>
          <p:cNvSpPr/>
          <p:nvPr/>
        </p:nvSpPr>
        <p:spPr>
          <a:xfrm>
            <a:off x="521872" y="6154486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0"/>
                </a:moveTo>
                <a:cubicBezTo>
                  <a:pt x="76116" y="0"/>
                  <a:pt x="79912" y="2278"/>
                  <a:pt x="81880" y="5905"/>
                </a:cubicBezTo>
                <a:lnTo>
                  <a:pt x="142615" y="118377"/>
                </a:lnTo>
                <a:cubicBezTo>
                  <a:pt x="144499" y="121864"/>
                  <a:pt x="144414" y="126081"/>
                  <a:pt x="142390" y="129484"/>
                </a:cubicBezTo>
                <a:cubicBezTo>
                  <a:pt x="140365" y="132886"/>
                  <a:pt x="136682" y="134967"/>
                  <a:pt x="132717" y="134967"/>
                </a:cubicBezTo>
                <a:lnTo>
                  <a:pt x="11247" y="134967"/>
                </a:lnTo>
                <a:cubicBezTo>
                  <a:pt x="7283" y="134967"/>
                  <a:pt x="3627" y="132886"/>
                  <a:pt x="1575" y="129484"/>
                </a:cubicBezTo>
                <a:cubicBezTo>
                  <a:pt x="-478" y="126081"/>
                  <a:pt x="-534" y="121864"/>
                  <a:pt x="1350" y="118377"/>
                </a:cubicBezTo>
                <a:lnTo>
                  <a:pt x="62085" y="5905"/>
                </a:lnTo>
                <a:cubicBezTo>
                  <a:pt x="64053" y="2278"/>
                  <a:pt x="67849" y="0"/>
                  <a:pt x="71982" y="0"/>
                </a:cubicBezTo>
                <a:close/>
                <a:moveTo>
                  <a:pt x="71982" y="47238"/>
                </a:moveTo>
                <a:cubicBezTo>
                  <a:pt x="68243" y="47238"/>
                  <a:pt x="65234" y="50247"/>
                  <a:pt x="65234" y="53987"/>
                </a:cubicBezTo>
                <a:lnTo>
                  <a:pt x="65234" y="85479"/>
                </a:lnTo>
                <a:cubicBezTo>
                  <a:pt x="65234" y="89219"/>
                  <a:pt x="68243" y="92227"/>
                  <a:pt x="71982" y="92227"/>
                </a:cubicBezTo>
                <a:cubicBezTo>
                  <a:pt x="75722" y="92227"/>
                  <a:pt x="78731" y="89219"/>
                  <a:pt x="78731" y="85479"/>
                </a:cubicBezTo>
                <a:lnTo>
                  <a:pt x="78731" y="53987"/>
                </a:lnTo>
                <a:cubicBezTo>
                  <a:pt x="78731" y="50247"/>
                  <a:pt x="75722" y="47238"/>
                  <a:pt x="71982" y="47238"/>
                </a:cubicBezTo>
                <a:close/>
                <a:moveTo>
                  <a:pt x="79490" y="107973"/>
                </a:moveTo>
                <a:cubicBezTo>
                  <a:pt x="79661" y="105187"/>
                  <a:pt x="78271" y="102535"/>
                  <a:pt x="75882" y="101090"/>
                </a:cubicBezTo>
                <a:cubicBezTo>
                  <a:pt x="73493" y="99645"/>
                  <a:pt x="70500" y="99645"/>
                  <a:pt x="68111" y="101090"/>
                </a:cubicBezTo>
                <a:cubicBezTo>
                  <a:pt x="65722" y="102535"/>
                  <a:pt x="64332" y="105187"/>
                  <a:pt x="64503" y="107973"/>
                </a:cubicBezTo>
                <a:cubicBezTo>
                  <a:pt x="64332" y="110760"/>
                  <a:pt x="65722" y="113411"/>
                  <a:pt x="68111" y="114856"/>
                </a:cubicBezTo>
                <a:cubicBezTo>
                  <a:pt x="70500" y="116301"/>
                  <a:pt x="73493" y="116301"/>
                  <a:pt x="75882" y="114856"/>
                </a:cubicBezTo>
                <a:cubicBezTo>
                  <a:pt x="78271" y="113411"/>
                  <a:pt x="79661" y="110760"/>
                  <a:pt x="79490" y="107973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1" name="Text 8"/>
          <p:cNvSpPr/>
          <p:nvPr/>
        </p:nvSpPr>
        <p:spPr>
          <a:xfrm>
            <a:off x="734830" y="6118494"/>
            <a:ext cx="5743576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13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</a:t>
            </a:r>
            <a:r>
              <a:rPr lang="en-US" sz="1134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65% of decisions </a:t>
            </a:r>
            <a:r>
              <a:rPr lang="en-US" sz="113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involve husband input or control, highlighting the persistence of patriarchal household structures in Cameroon.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765117" y="1673588"/>
            <a:ext cx="5065754" cy="2105482"/>
          </a:xfrm>
          <a:custGeom>
            <a:avLst/>
            <a:gdLst/>
            <a:ahLst/>
            <a:cxnLst/>
            <a:rect l="l" t="t" r="r" b="b"/>
            <a:pathLst>
              <a:path w="5065754" h="2105482">
                <a:moveTo>
                  <a:pt x="35991" y="0"/>
                </a:moveTo>
                <a:lnTo>
                  <a:pt x="5029762" y="0"/>
                </a:lnTo>
                <a:cubicBezTo>
                  <a:pt x="5049640" y="0"/>
                  <a:pt x="5065754" y="16114"/>
                  <a:pt x="5065754" y="35991"/>
                </a:cubicBezTo>
                <a:lnTo>
                  <a:pt x="5065754" y="2033495"/>
                </a:lnTo>
                <a:cubicBezTo>
                  <a:pt x="5065754" y="2073252"/>
                  <a:pt x="5033524" y="2105482"/>
                  <a:pt x="4993767" y="2105482"/>
                </a:cubicBezTo>
                <a:lnTo>
                  <a:pt x="71986" y="2105482"/>
                </a:lnTo>
                <a:cubicBezTo>
                  <a:pt x="32229" y="2105482"/>
                  <a:pt x="0" y="2073252"/>
                  <a:pt x="0" y="2033495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3987" dist="359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65117" y="1673588"/>
            <a:ext cx="5065754" cy="35991"/>
          </a:xfrm>
          <a:custGeom>
            <a:avLst/>
            <a:gdLst/>
            <a:ahLst/>
            <a:cxnLst/>
            <a:rect l="l" t="t" r="r" b="b"/>
            <a:pathLst>
              <a:path w="5065754" h="35991">
                <a:moveTo>
                  <a:pt x="35991" y="0"/>
                </a:moveTo>
                <a:lnTo>
                  <a:pt x="5029762" y="0"/>
                </a:lnTo>
                <a:cubicBezTo>
                  <a:pt x="5049640" y="0"/>
                  <a:pt x="5065754" y="16114"/>
                  <a:pt x="5065754" y="35991"/>
                </a:cubicBezTo>
                <a:lnTo>
                  <a:pt x="5065754" y="35991"/>
                </a:lnTo>
                <a:lnTo>
                  <a:pt x="0" y="35991"/>
                </a:ln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14" name="Text 11"/>
          <p:cNvSpPr/>
          <p:nvPr/>
        </p:nvSpPr>
        <p:spPr>
          <a:xfrm>
            <a:off x="6945073" y="1943522"/>
            <a:ext cx="1331672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Joint Decision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683841" y="1871539"/>
            <a:ext cx="1178710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41.3%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945073" y="2411407"/>
            <a:ext cx="4705842" cy="143965"/>
          </a:xfrm>
          <a:custGeom>
            <a:avLst/>
            <a:gdLst/>
            <a:ahLst/>
            <a:cxnLst/>
            <a:rect l="l" t="t" r="r" b="b"/>
            <a:pathLst>
              <a:path w="4705842" h="143965">
                <a:moveTo>
                  <a:pt x="71982" y="0"/>
                </a:moveTo>
                <a:lnTo>
                  <a:pt x="4633860" y="0"/>
                </a:lnTo>
                <a:cubicBezTo>
                  <a:pt x="4673614" y="0"/>
                  <a:pt x="4705842" y="32228"/>
                  <a:pt x="4705842" y="71982"/>
                </a:cubicBezTo>
                <a:lnTo>
                  <a:pt x="4705842" y="71982"/>
                </a:lnTo>
                <a:cubicBezTo>
                  <a:pt x="4705842" y="111737"/>
                  <a:pt x="4673614" y="143965"/>
                  <a:pt x="4633860" y="143965"/>
                </a:cubicBezTo>
                <a:lnTo>
                  <a:pt x="71982" y="143965"/>
                </a:lnTo>
                <a:cubicBezTo>
                  <a:pt x="32254" y="143965"/>
                  <a:pt x="0" y="111710"/>
                  <a:pt x="0" y="71982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7" name="Shape 14"/>
          <p:cNvSpPr/>
          <p:nvPr/>
        </p:nvSpPr>
        <p:spPr>
          <a:xfrm>
            <a:off x="6945073" y="2411407"/>
            <a:ext cx="2456396" cy="143965"/>
          </a:xfrm>
          <a:custGeom>
            <a:avLst/>
            <a:gdLst/>
            <a:ahLst/>
            <a:cxnLst/>
            <a:rect l="l" t="t" r="r" b="b"/>
            <a:pathLst>
              <a:path w="2456396" h="143965">
                <a:moveTo>
                  <a:pt x="71982" y="0"/>
                </a:moveTo>
                <a:lnTo>
                  <a:pt x="2384413" y="0"/>
                </a:lnTo>
                <a:cubicBezTo>
                  <a:pt x="2424168" y="0"/>
                  <a:pt x="2456396" y="32228"/>
                  <a:pt x="2456396" y="71982"/>
                </a:cubicBezTo>
                <a:lnTo>
                  <a:pt x="2456396" y="71982"/>
                </a:lnTo>
                <a:cubicBezTo>
                  <a:pt x="2456396" y="111737"/>
                  <a:pt x="2424168" y="143965"/>
                  <a:pt x="2384413" y="143965"/>
                </a:cubicBezTo>
                <a:lnTo>
                  <a:pt x="71982" y="143965"/>
                </a:lnTo>
                <a:cubicBezTo>
                  <a:pt x="32254" y="143965"/>
                  <a:pt x="0" y="111710"/>
                  <a:pt x="0" y="71982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18" name="Text 15"/>
          <p:cNvSpPr/>
          <p:nvPr/>
        </p:nvSpPr>
        <p:spPr>
          <a:xfrm>
            <a:off x="6945073" y="2663345"/>
            <a:ext cx="4777824" cy="93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2,704 women</a:t>
            </a:r>
            <a:r>
              <a:rPr lang="en-US" sz="1134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decisions jointly with their husbands. This is the most common pattern, reflecting the culturally negotiated nature of contraceptive use where male partner involvement is normatively expected.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765117" y="3941030"/>
            <a:ext cx="5065754" cy="1637597"/>
          </a:xfrm>
          <a:custGeom>
            <a:avLst/>
            <a:gdLst/>
            <a:ahLst/>
            <a:cxnLst/>
            <a:rect l="l" t="t" r="r" b="b"/>
            <a:pathLst>
              <a:path w="5065754" h="1637597">
                <a:moveTo>
                  <a:pt x="35991" y="0"/>
                </a:moveTo>
                <a:lnTo>
                  <a:pt x="5029762" y="0"/>
                </a:lnTo>
                <a:cubicBezTo>
                  <a:pt x="5049640" y="0"/>
                  <a:pt x="5065754" y="16114"/>
                  <a:pt x="5065754" y="35991"/>
                </a:cubicBezTo>
                <a:lnTo>
                  <a:pt x="5065754" y="1565608"/>
                </a:lnTo>
                <a:cubicBezTo>
                  <a:pt x="5065754" y="1605367"/>
                  <a:pt x="5033523" y="1637597"/>
                  <a:pt x="4993765" y="1637597"/>
                </a:cubicBezTo>
                <a:lnTo>
                  <a:pt x="71989" y="1637597"/>
                </a:lnTo>
                <a:cubicBezTo>
                  <a:pt x="32230" y="1637597"/>
                  <a:pt x="0" y="1605367"/>
                  <a:pt x="0" y="1565608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3987" dist="359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65117" y="3941030"/>
            <a:ext cx="5065754" cy="35991"/>
          </a:xfrm>
          <a:custGeom>
            <a:avLst/>
            <a:gdLst/>
            <a:ahLst/>
            <a:cxnLst/>
            <a:rect l="l" t="t" r="r" b="b"/>
            <a:pathLst>
              <a:path w="5065754" h="35991">
                <a:moveTo>
                  <a:pt x="35991" y="0"/>
                </a:moveTo>
                <a:lnTo>
                  <a:pt x="5029762" y="0"/>
                </a:lnTo>
                <a:cubicBezTo>
                  <a:pt x="5049640" y="0"/>
                  <a:pt x="5065754" y="16114"/>
                  <a:pt x="5065754" y="35991"/>
                </a:cubicBezTo>
                <a:lnTo>
                  <a:pt x="5065754" y="35991"/>
                </a:lnTo>
                <a:lnTo>
                  <a:pt x="0" y="35991"/>
                </a:ln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21" name="Text 18"/>
          <p:cNvSpPr/>
          <p:nvPr/>
        </p:nvSpPr>
        <p:spPr>
          <a:xfrm>
            <a:off x="6945073" y="4210964"/>
            <a:ext cx="1385659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Husband Alone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682528" y="4138982"/>
            <a:ext cx="1178710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B88A7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24.0%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45073" y="4678849"/>
            <a:ext cx="4705842" cy="143965"/>
          </a:xfrm>
          <a:custGeom>
            <a:avLst/>
            <a:gdLst/>
            <a:ahLst/>
            <a:cxnLst/>
            <a:rect l="l" t="t" r="r" b="b"/>
            <a:pathLst>
              <a:path w="4705842" h="143965">
                <a:moveTo>
                  <a:pt x="71982" y="0"/>
                </a:moveTo>
                <a:lnTo>
                  <a:pt x="4633860" y="0"/>
                </a:lnTo>
                <a:cubicBezTo>
                  <a:pt x="4673614" y="0"/>
                  <a:pt x="4705842" y="32228"/>
                  <a:pt x="4705842" y="71982"/>
                </a:cubicBezTo>
                <a:lnTo>
                  <a:pt x="4705842" y="71982"/>
                </a:lnTo>
                <a:cubicBezTo>
                  <a:pt x="4705842" y="111737"/>
                  <a:pt x="4673614" y="143965"/>
                  <a:pt x="4633860" y="143965"/>
                </a:cubicBezTo>
                <a:lnTo>
                  <a:pt x="71982" y="143965"/>
                </a:lnTo>
                <a:cubicBezTo>
                  <a:pt x="32254" y="143965"/>
                  <a:pt x="0" y="111710"/>
                  <a:pt x="0" y="71982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4" name="Shape 21"/>
          <p:cNvSpPr/>
          <p:nvPr/>
        </p:nvSpPr>
        <p:spPr>
          <a:xfrm>
            <a:off x="6945073" y="4678849"/>
            <a:ext cx="1304679" cy="143965"/>
          </a:xfrm>
          <a:custGeom>
            <a:avLst/>
            <a:gdLst/>
            <a:ahLst/>
            <a:cxnLst/>
            <a:rect l="l" t="t" r="r" b="b"/>
            <a:pathLst>
              <a:path w="1304679" h="143965">
                <a:moveTo>
                  <a:pt x="71982" y="0"/>
                </a:moveTo>
                <a:lnTo>
                  <a:pt x="1232697" y="0"/>
                </a:lnTo>
                <a:cubicBezTo>
                  <a:pt x="1272451" y="0"/>
                  <a:pt x="1304679" y="32228"/>
                  <a:pt x="1304679" y="71982"/>
                </a:cubicBezTo>
                <a:lnTo>
                  <a:pt x="1304679" y="71982"/>
                </a:lnTo>
                <a:cubicBezTo>
                  <a:pt x="1304679" y="111737"/>
                  <a:pt x="1272451" y="143965"/>
                  <a:pt x="1232697" y="143965"/>
                </a:cubicBezTo>
                <a:lnTo>
                  <a:pt x="71982" y="143965"/>
                </a:lnTo>
                <a:cubicBezTo>
                  <a:pt x="32254" y="143965"/>
                  <a:pt x="0" y="111710"/>
                  <a:pt x="0" y="71982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25" name="Text 22"/>
          <p:cNvSpPr/>
          <p:nvPr/>
        </p:nvSpPr>
        <p:spPr>
          <a:xfrm>
            <a:off x="6945073" y="4930787"/>
            <a:ext cx="4777824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1,571 women</a:t>
            </a:r>
            <a:r>
              <a:rPr lang="en-US" sz="1134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report their husband as the sole decision-maker. This represents male-dominated decision-making with limited female agency.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765117" y="5740587"/>
            <a:ext cx="2456396" cy="881783"/>
          </a:xfrm>
          <a:custGeom>
            <a:avLst/>
            <a:gdLst/>
            <a:ahLst/>
            <a:cxnLst/>
            <a:rect l="l" t="t" r="r" b="b"/>
            <a:pathLst>
              <a:path w="2456396" h="881783">
                <a:moveTo>
                  <a:pt x="35991" y="0"/>
                </a:moveTo>
                <a:lnTo>
                  <a:pt x="2420404" y="0"/>
                </a:lnTo>
                <a:cubicBezTo>
                  <a:pt x="2440282" y="0"/>
                  <a:pt x="2456396" y="16114"/>
                  <a:pt x="2456396" y="35991"/>
                </a:cubicBezTo>
                <a:lnTo>
                  <a:pt x="2456396" y="809803"/>
                </a:lnTo>
                <a:cubicBezTo>
                  <a:pt x="2456396" y="849530"/>
                  <a:pt x="2424142" y="881783"/>
                  <a:pt x="2384416" y="881783"/>
                </a:cubicBezTo>
                <a:lnTo>
                  <a:pt x="71980" y="881783"/>
                </a:lnTo>
                <a:cubicBezTo>
                  <a:pt x="32253" y="881783"/>
                  <a:pt x="0" y="849530"/>
                  <a:pt x="0" y="809803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3987" dist="359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765117" y="5740587"/>
            <a:ext cx="2456396" cy="35991"/>
          </a:xfrm>
          <a:custGeom>
            <a:avLst/>
            <a:gdLst/>
            <a:ahLst/>
            <a:cxnLst/>
            <a:rect l="l" t="t" r="r" b="b"/>
            <a:pathLst>
              <a:path w="2456396" h="35991">
                <a:moveTo>
                  <a:pt x="35991" y="0"/>
                </a:moveTo>
                <a:lnTo>
                  <a:pt x="2420404" y="0"/>
                </a:lnTo>
                <a:cubicBezTo>
                  <a:pt x="2440282" y="0"/>
                  <a:pt x="2456396" y="16114"/>
                  <a:pt x="2456396" y="35991"/>
                </a:cubicBezTo>
                <a:lnTo>
                  <a:pt x="2456396" y="35991"/>
                </a:lnTo>
                <a:lnTo>
                  <a:pt x="0" y="35991"/>
                </a:ln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8" name="Text 25"/>
          <p:cNvSpPr/>
          <p:nvPr/>
        </p:nvSpPr>
        <p:spPr>
          <a:xfrm>
            <a:off x="6909082" y="5938539"/>
            <a:ext cx="96276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Woman Alone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502064" y="5902548"/>
            <a:ext cx="710825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C9A87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33.0%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09082" y="6298450"/>
            <a:ext cx="223145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2,160 women</a:t>
            </a:r>
            <a:r>
              <a:rPr lang="en-US" sz="992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highest autonomy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369039" y="5740587"/>
            <a:ext cx="2456396" cy="881783"/>
          </a:xfrm>
          <a:custGeom>
            <a:avLst/>
            <a:gdLst/>
            <a:ahLst/>
            <a:cxnLst/>
            <a:rect l="l" t="t" r="r" b="b"/>
            <a:pathLst>
              <a:path w="2456396" h="881783">
                <a:moveTo>
                  <a:pt x="35991" y="0"/>
                </a:moveTo>
                <a:lnTo>
                  <a:pt x="2420404" y="0"/>
                </a:lnTo>
                <a:cubicBezTo>
                  <a:pt x="2440282" y="0"/>
                  <a:pt x="2456396" y="16114"/>
                  <a:pt x="2456396" y="35991"/>
                </a:cubicBezTo>
                <a:lnTo>
                  <a:pt x="2456396" y="809803"/>
                </a:lnTo>
                <a:cubicBezTo>
                  <a:pt x="2456396" y="849530"/>
                  <a:pt x="2424142" y="881783"/>
                  <a:pt x="2384416" y="881783"/>
                </a:cubicBezTo>
                <a:lnTo>
                  <a:pt x="71980" y="881783"/>
                </a:lnTo>
                <a:cubicBezTo>
                  <a:pt x="32253" y="881783"/>
                  <a:pt x="0" y="849530"/>
                  <a:pt x="0" y="809803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3987" dist="359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369039" y="5740587"/>
            <a:ext cx="2456396" cy="35991"/>
          </a:xfrm>
          <a:custGeom>
            <a:avLst/>
            <a:gdLst/>
            <a:ahLst/>
            <a:cxnLst/>
            <a:rect l="l" t="t" r="r" b="b"/>
            <a:pathLst>
              <a:path w="2456396" h="35991">
                <a:moveTo>
                  <a:pt x="35991" y="0"/>
                </a:moveTo>
                <a:lnTo>
                  <a:pt x="2420404" y="0"/>
                </a:lnTo>
                <a:cubicBezTo>
                  <a:pt x="2440282" y="0"/>
                  <a:pt x="2456396" y="16114"/>
                  <a:pt x="2456396" y="35991"/>
                </a:cubicBezTo>
                <a:lnTo>
                  <a:pt x="2456396" y="35991"/>
                </a:lnTo>
                <a:lnTo>
                  <a:pt x="0" y="35991"/>
                </a:ln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33" name="Text 30"/>
          <p:cNvSpPr/>
          <p:nvPr/>
        </p:nvSpPr>
        <p:spPr>
          <a:xfrm>
            <a:off x="9513004" y="5938539"/>
            <a:ext cx="44089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Other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205993" y="5902548"/>
            <a:ext cx="611849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1.6%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513004" y="6298450"/>
            <a:ext cx="223145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105 women</a:t>
            </a:r>
            <a:r>
              <a:rPr lang="en-US" sz="992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extended family</a:t>
            </a:r>
            <a:endParaRPr lang="en-US" sz="1600" dirty="0"/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3E15AFFA-8732-D377-0116-8EC22A6D84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4621555"/>
              </p:ext>
            </p:extLst>
          </p:nvPr>
        </p:nvGraphicFramePr>
        <p:xfrm>
          <a:off x="1077954" y="267127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Multinomial Regression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Factors Associated with Husband-Only Decision-Making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60438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Comparing husband-alone vs. woman-alone decision-making (Reference: Woman decides alone)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277938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6" name="Shape 4"/>
          <p:cNvSpPr/>
          <p:nvPr/>
        </p:nvSpPr>
        <p:spPr>
          <a:xfrm>
            <a:off x="317500" y="1436688"/>
            <a:ext cx="6611938" cy="4191000"/>
          </a:xfrm>
          <a:custGeom>
            <a:avLst/>
            <a:gdLst/>
            <a:ahLst/>
            <a:cxnLst/>
            <a:rect l="l" t="t" r="r" b="b"/>
            <a:pathLst>
              <a:path w="6611938" h="4191000">
                <a:moveTo>
                  <a:pt x="63494" y="0"/>
                </a:moveTo>
                <a:lnTo>
                  <a:pt x="6548444" y="0"/>
                </a:lnTo>
                <a:cubicBezTo>
                  <a:pt x="6583510" y="0"/>
                  <a:pt x="6611938" y="28427"/>
                  <a:pt x="6611938" y="63494"/>
                </a:cubicBezTo>
                <a:lnTo>
                  <a:pt x="6611938" y="4127506"/>
                </a:lnTo>
                <a:cubicBezTo>
                  <a:pt x="6611938" y="4162573"/>
                  <a:pt x="6583510" y="4191000"/>
                  <a:pt x="6548444" y="4191000"/>
                </a:cubicBezTo>
                <a:lnTo>
                  <a:pt x="63494" y="4191000"/>
                </a:lnTo>
                <a:cubicBezTo>
                  <a:pt x="28427" y="4191000"/>
                  <a:pt x="0" y="4162573"/>
                  <a:pt x="0" y="4127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6250" y="1595438"/>
            <a:ext cx="637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Protective Factors (Reduced Likelihood of Husband-Only Decisions)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6250" y="19446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436563" y="194468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41%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1250" y="2024062"/>
            <a:ext cx="480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Formally Married (vs. Cohabiting)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1250" y="2214563"/>
            <a:ext cx="479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0.595 (95% CI: 0.486–0.729), p&lt;0.001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77186" y="2087563"/>
            <a:ext cx="793750" cy="222250"/>
          </a:xfrm>
          <a:custGeom>
            <a:avLst/>
            <a:gdLst/>
            <a:ahLst/>
            <a:cxnLst/>
            <a:rect l="l" t="t" r="r" b="b"/>
            <a:pathLst>
              <a:path w="793750" h="222250">
                <a:moveTo>
                  <a:pt x="111125" y="0"/>
                </a:moveTo>
                <a:lnTo>
                  <a:pt x="682625" y="0"/>
                </a:lnTo>
                <a:cubicBezTo>
                  <a:pt x="743957" y="0"/>
                  <a:pt x="793750" y="49793"/>
                  <a:pt x="793750" y="111125"/>
                </a:cubicBezTo>
                <a:lnTo>
                  <a:pt x="793750" y="111125"/>
                </a:lnTo>
                <a:cubicBezTo>
                  <a:pt x="793750" y="172457"/>
                  <a:pt x="743957" y="222250"/>
                  <a:pt x="682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21623" y="2087563"/>
            <a:ext cx="849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r">
              <a:lnSpc>
                <a:spcPct val="120000"/>
              </a:lnSpc>
            </a:pPr>
            <a:r>
              <a:rPr lang="en-US" sz="875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6250" y="2547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15" name="Text 13"/>
          <p:cNvSpPr/>
          <p:nvPr/>
        </p:nvSpPr>
        <p:spPr>
          <a:xfrm>
            <a:off x="436563" y="254793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29%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" y="2627313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Polygynous Marriage (vs. Monogamous)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1250" y="281781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0.711 (95% CI: 0.593–0.852), p&lt;0.001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6250" y="3151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19" name="Text 17"/>
          <p:cNvSpPr/>
          <p:nvPr/>
        </p:nvSpPr>
        <p:spPr>
          <a:xfrm>
            <a:off x="436563" y="315118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26%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1250" y="3230563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 Education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1250" y="342106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0.737 (95% CI: 0.563–0.966), p=0.027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6250" y="37544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23" name="Text 21"/>
          <p:cNvSpPr/>
          <p:nvPr/>
        </p:nvSpPr>
        <p:spPr>
          <a:xfrm>
            <a:off x="436563" y="375443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29%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1250" y="3833812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Don’t Know (Desired Children)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1250" y="402431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0.717 (95% CI: 0.584–0.880), p=0.002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250" y="43576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27" name="Text 25"/>
          <p:cNvSpPr/>
          <p:nvPr/>
        </p:nvSpPr>
        <p:spPr>
          <a:xfrm>
            <a:off x="436563" y="435768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22%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1250" y="4437063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Fieldworker Did Not Visit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1250" y="462756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0.781 (95% CI: 0.649–0.939), p=0.009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6250" y="4960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31" name="Text 29"/>
          <p:cNvSpPr/>
          <p:nvPr/>
        </p:nvSpPr>
        <p:spPr>
          <a:xfrm>
            <a:off x="436563" y="496093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33%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1250" y="5040313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 Working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1250" y="523081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0.671 (95% CI: 0.568–0.792), p&lt;0.001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3375" y="5754688"/>
            <a:ext cx="6596063" cy="1174750"/>
          </a:xfrm>
          <a:custGeom>
            <a:avLst/>
            <a:gdLst/>
            <a:ahLst/>
            <a:cxnLst/>
            <a:rect l="l" t="t" r="r" b="b"/>
            <a:pathLst>
              <a:path w="6596063" h="1174750">
                <a:moveTo>
                  <a:pt x="31750" y="0"/>
                </a:moveTo>
                <a:lnTo>
                  <a:pt x="6532567" y="0"/>
                </a:lnTo>
                <a:cubicBezTo>
                  <a:pt x="6567635" y="0"/>
                  <a:pt x="6596063" y="28428"/>
                  <a:pt x="6596063" y="63495"/>
                </a:cubicBezTo>
                <a:lnTo>
                  <a:pt x="6596063" y="1111255"/>
                </a:lnTo>
                <a:cubicBezTo>
                  <a:pt x="6596063" y="1146322"/>
                  <a:pt x="6567635" y="1174750"/>
                  <a:pt x="6532567" y="1174750"/>
                </a:cubicBezTo>
                <a:lnTo>
                  <a:pt x="31750" y="1174750"/>
                </a:lnTo>
                <a:cubicBezTo>
                  <a:pt x="14215" y="1174750"/>
                  <a:pt x="0" y="1160535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3375" y="5754688"/>
            <a:ext cx="31750" cy="1174750"/>
          </a:xfrm>
          <a:custGeom>
            <a:avLst/>
            <a:gdLst/>
            <a:ahLst/>
            <a:cxnLst/>
            <a:rect l="l" t="t" r="r" b="b"/>
            <a:pathLst>
              <a:path w="31750" h="1174750">
                <a:moveTo>
                  <a:pt x="31750" y="0"/>
                </a:moveTo>
                <a:lnTo>
                  <a:pt x="31750" y="0"/>
                </a:lnTo>
                <a:lnTo>
                  <a:pt x="31750" y="1174750"/>
                </a:lnTo>
                <a:lnTo>
                  <a:pt x="31750" y="1174750"/>
                </a:lnTo>
                <a:cubicBezTo>
                  <a:pt x="14227" y="1174750"/>
                  <a:pt x="0" y="1160523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36" name="Shape 34"/>
          <p:cNvSpPr/>
          <p:nvPr/>
        </p:nvSpPr>
        <p:spPr>
          <a:xfrm>
            <a:off x="527844" y="59451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42168"/>
                </a:moveTo>
                <a:cubicBezTo>
                  <a:pt x="83499" y="42168"/>
                  <a:pt x="86816" y="45486"/>
                  <a:pt x="86816" y="49609"/>
                </a:cubicBezTo>
                <a:lnTo>
                  <a:pt x="86816" y="84336"/>
                </a:lnTo>
                <a:cubicBezTo>
                  <a:pt x="86816" y="88460"/>
                  <a:pt x="83499" y="91777"/>
                  <a:pt x="79375" y="91777"/>
                </a:cubicBezTo>
                <a:cubicBezTo>
                  <a:pt x="75251" y="91777"/>
                  <a:pt x="71934" y="88460"/>
                  <a:pt x="71934" y="84336"/>
                </a:cubicBezTo>
                <a:lnTo>
                  <a:pt x="71934" y="49609"/>
                </a:lnTo>
                <a:cubicBezTo>
                  <a:pt x="71934" y="45486"/>
                  <a:pt x="75251" y="42168"/>
                  <a:pt x="79375" y="42168"/>
                </a:cubicBezTo>
                <a:close/>
                <a:moveTo>
                  <a:pt x="71096" y="109141"/>
                </a:moveTo>
                <a:cubicBezTo>
                  <a:pt x="70908" y="106068"/>
                  <a:pt x="72441" y="103144"/>
                  <a:pt x="75075" y="101551"/>
                </a:cubicBezTo>
                <a:cubicBezTo>
                  <a:pt x="77709" y="99957"/>
                  <a:pt x="81010" y="99957"/>
                  <a:pt x="83644" y="101551"/>
                </a:cubicBezTo>
                <a:cubicBezTo>
                  <a:pt x="86278" y="103144"/>
                  <a:pt x="87811" y="106068"/>
                  <a:pt x="87623" y="109141"/>
                </a:cubicBezTo>
                <a:cubicBezTo>
                  <a:pt x="87811" y="112214"/>
                  <a:pt x="86278" y="115137"/>
                  <a:pt x="83644" y="116731"/>
                </a:cubicBezTo>
                <a:cubicBezTo>
                  <a:pt x="81010" y="118324"/>
                  <a:pt x="77709" y="118324"/>
                  <a:pt x="75075" y="116731"/>
                </a:cubicBezTo>
                <a:cubicBezTo>
                  <a:pt x="72441" y="115137"/>
                  <a:pt x="70908" y="112214"/>
                  <a:pt x="71096" y="109141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37" name="Text 35"/>
          <p:cNvSpPr/>
          <p:nvPr/>
        </p:nvSpPr>
        <p:spPr>
          <a:xfrm>
            <a:off x="706438" y="5913438"/>
            <a:ext cx="6143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Risk Factor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8000" y="624681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39" name="Text 37"/>
          <p:cNvSpPr/>
          <p:nvPr/>
        </p:nvSpPr>
        <p:spPr>
          <a:xfrm>
            <a:off x="472281" y="6246813"/>
            <a:ext cx="57943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+57%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43000" y="6230938"/>
            <a:ext cx="569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Husband Desires More Children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43000" y="6421438"/>
            <a:ext cx="568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1.569 (95% CI: 1.318–1.868), p&lt;0.001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3000" y="6611938"/>
            <a:ext cx="568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fertility preferences diverge, husbands exert stronger control over FP decisions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87195" y="1436688"/>
            <a:ext cx="4786313" cy="3667125"/>
          </a:xfrm>
          <a:custGeom>
            <a:avLst/>
            <a:gdLst/>
            <a:ahLst/>
            <a:cxnLst/>
            <a:rect l="l" t="t" r="r" b="b"/>
            <a:pathLst>
              <a:path w="4786313" h="3667125">
                <a:moveTo>
                  <a:pt x="63515" y="0"/>
                </a:moveTo>
                <a:lnTo>
                  <a:pt x="4722798" y="0"/>
                </a:lnTo>
                <a:cubicBezTo>
                  <a:pt x="4757876" y="0"/>
                  <a:pt x="4786312" y="28436"/>
                  <a:pt x="4786312" y="63515"/>
                </a:cubicBezTo>
                <a:lnTo>
                  <a:pt x="4786313" y="3603610"/>
                </a:lnTo>
                <a:cubicBezTo>
                  <a:pt x="4786312" y="3638689"/>
                  <a:pt x="4757876" y="3667125"/>
                  <a:pt x="4722798" y="3667125"/>
                </a:cubicBezTo>
                <a:lnTo>
                  <a:pt x="63515" y="3667125"/>
                </a:lnTo>
                <a:cubicBezTo>
                  <a:pt x="28436" y="3667125"/>
                  <a:pt x="0" y="3638689"/>
                  <a:pt x="0" y="3603610"/>
                </a:cubicBezTo>
                <a:lnTo>
                  <a:pt x="0" y="63515"/>
                </a:lnTo>
                <a:cubicBezTo>
                  <a:pt x="0" y="28460"/>
                  <a:pt x="28460" y="0"/>
                  <a:pt x="63515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44" name="Shape 42"/>
          <p:cNvSpPr/>
          <p:nvPr/>
        </p:nvSpPr>
        <p:spPr>
          <a:xfrm>
            <a:off x="7265789" y="16271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4180" y="109141"/>
                </a:moveTo>
                <a:cubicBezTo>
                  <a:pt x="134317" y="109141"/>
                  <a:pt x="158750" y="84708"/>
                  <a:pt x="158750" y="54570"/>
                </a:cubicBezTo>
                <a:cubicBezTo>
                  <a:pt x="158750" y="24433"/>
                  <a:pt x="134317" y="0"/>
                  <a:pt x="104180" y="0"/>
                </a:cubicBezTo>
                <a:cubicBezTo>
                  <a:pt x="74042" y="0"/>
                  <a:pt x="49609" y="24433"/>
                  <a:pt x="49609" y="54570"/>
                </a:cubicBezTo>
                <a:cubicBezTo>
                  <a:pt x="49609" y="60368"/>
                  <a:pt x="50509" y="65980"/>
                  <a:pt x="52183" y="71220"/>
                </a:cubicBezTo>
                <a:lnTo>
                  <a:pt x="2170" y="121233"/>
                </a:lnTo>
                <a:cubicBezTo>
                  <a:pt x="775" y="122628"/>
                  <a:pt x="0" y="124520"/>
                  <a:pt x="0" y="126504"/>
                </a:cubicBezTo>
                <a:lnTo>
                  <a:pt x="0" y="151309"/>
                </a:lnTo>
                <a:cubicBezTo>
                  <a:pt x="0" y="155432"/>
                  <a:pt x="3318" y="158750"/>
                  <a:pt x="7441" y="158750"/>
                </a:cubicBezTo>
                <a:lnTo>
                  <a:pt x="32246" y="158750"/>
                </a:lnTo>
                <a:cubicBezTo>
                  <a:pt x="36370" y="158750"/>
                  <a:pt x="39688" y="155432"/>
                  <a:pt x="39688" y="151309"/>
                </a:cubicBezTo>
                <a:lnTo>
                  <a:pt x="39688" y="138906"/>
                </a:lnTo>
                <a:lnTo>
                  <a:pt x="52090" y="138906"/>
                </a:lnTo>
                <a:cubicBezTo>
                  <a:pt x="56214" y="138906"/>
                  <a:pt x="59531" y="135589"/>
                  <a:pt x="59531" y="131465"/>
                </a:cubicBezTo>
                <a:lnTo>
                  <a:pt x="59531" y="119062"/>
                </a:lnTo>
                <a:lnTo>
                  <a:pt x="71934" y="119062"/>
                </a:lnTo>
                <a:cubicBezTo>
                  <a:pt x="73918" y="119062"/>
                  <a:pt x="75809" y="118287"/>
                  <a:pt x="77205" y="116892"/>
                </a:cubicBezTo>
                <a:lnTo>
                  <a:pt x="87530" y="106567"/>
                </a:lnTo>
                <a:cubicBezTo>
                  <a:pt x="92770" y="108241"/>
                  <a:pt x="98382" y="109141"/>
                  <a:pt x="104180" y="109141"/>
                </a:cubicBezTo>
                <a:close/>
                <a:moveTo>
                  <a:pt x="116582" y="29766"/>
                </a:moveTo>
                <a:cubicBezTo>
                  <a:pt x="123427" y="29766"/>
                  <a:pt x="128984" y="35323"/>
                  <a:pt x="128984" y="42168"/>
                </a:cubicBezTo>
                <a:cubicBezTo>
                  <a:pt x="128984" y="49013"/>
                  <a:pt x="123427" y="54570"/>
                  <a:pt x="116582" y="54570"/>
                </a:cubicBezTo>
                <a:cubicBezTo>
                  <a:pt x="109737" y="54570"/>
                  <a:pt x="104180" y="49013"/>
                  <a:pt x="104180" y="42168"/>
                </a:cubicBezTo>
                <a:cubicBezTo>
                  <a:pt x="104180" y="35323"/>
                  <a:pt x="109737" y="29766"/>
                  <a:pt x="116582" y="29766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5" name="Text 43"/>
          <p:cNvSpPr/>
          <p:nvPr/>
        </p:nvSpPr>
        <p:spPr>
          <a:xfrm>
            <a:off x="7444383" y="1595438"/>
            <a:ext cx="434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Interpretation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45945" y="1944688"/>
            <a:ext cx="45323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education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consistently associated with reduced relative risk of husband-only decision-making. Education enhances women's negotiating position within the household.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45945" y="2659063"/>
            <a:ext cx="45323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Wealthier women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women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reduced likelihood of husband-only decisions, suggesting that economic independence is an enabling factor for women's reproductive agency.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45945" y="3373438"/>
            <a:ext cx="4532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contraceptive use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strongest single predictor—women using modern methods are 33% less likely to be in the husband-alone category.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45945" y="3881438"/>
            <a:ext cx="45323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facility contact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associated with reduced husband-only decision-making, highlighting the importance of FP counselling in empowering women within the household context.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087195" y="5230813"/>
            <a:ext cx="4786313" cy="1698625"/>
          </a:xfrm>
          <a:custGeom>
            <a:avLst/>
            <a:gdLst/>
            <a:ahLst/>
            <a:cxnLst/>
            <a:rect l="l" t="t" r="r" b="b"/>
            <a:pathLst>
              <a:path w="4786313" h="1698625">
                <a:moveTo>
                  <a:pt x="63495" y="0"/>
                </a:moveTo>
                <a:lnTo>
                  <a:pt x="4722818" y="0"/>
                </a:lnTo>
                <a:cubicBezTo>
                  <a:pt x="4757885" y="0"/>
                  <a:pt x="4786312" y="28428"/>
                  <a:pt x="4786312" y="63495"/>
                </a:cubicBezTo>
                <a:lnTo>
                  <a:pt x="4786313" y="1635130"/>
                </a:lnTo>
                <a:cubicBezTo>
                  <a:pt x="4786312" y="1670197"/>
                  <a:pt x="4757885" y="1698625"/>
                  <a:pt x="4722818" y="1698625"/>
                </a:cubicBezTo>
                <a:lnTo>
                  <a:pt x="63495" y="1698625"/>
                </a:lnTo>
                <a:cubicBezTo>
                  <a:pt x="28428" y="1698625"/>
                  <a:pt x="0" y="1670197"/>
                  <a:pt x="0" y="1635130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51" name="Image 0" descr="https://kimi-web-img.moonshot.cn/img/www.unfpa.org/a06ed8565c4c23b909d238a3c62b9e6e36284b30.jpg"/>
          <p:cNvPicPr>
            <a:picLocks noChangeAspect="1"/>
          </p:cNvPicPr>
          <p:nvPr/>
        </p:nvPicPr>
        <p:blipFill>
          <a:blip r:embed="rId3"/>
          <a:srcRect t="32487" b="32487"/>
          <a:stretch/>
        </p:blipFill>
        <p:spPr>
          <a:xfrm>
            <a:off x="7214195" y="5357813"/>
            <a:ext cx="4532313" cy="1190625"/>
          </a:xfrm>
          <a:prstGeom prst="roundRect">
            <a:avLst>
              <a:gd name="adj" fmla="val 5333"/>
            </a:avLst>
          </a:prstGeom>
        </p:spPr>
      </p:pic>
      <p:sp>
        <p:nvSpPr>
          <p:cNvPr id="52" name="Text 49"/>
          <p:cNvSpPr/>
          <p:nvPr/>
        </p:nvSpPr>
        <p:spPr>
          <a:xfrm>
            <a:off x="7186414" y="6643688"/>
            <a:ext cx="458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Family planning counselling at health facilities empowers women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Multinomial Regression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Factors Associated with Joint Decision-Making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60438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Comparing joint vs. woman-alone decision-making (Reference: Woman decides alone)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277938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6" name="Shape 4"/>
          <p:cNvSpPr/>
          <p:nvPr/>
        </p:nvSpPr>
        <p:spPr>
          <a:xfrm>
            <a:off x="317500" y="1436688"/>
            <a:ext cx="6611938" cy="4191000"/>
          </a:xfrm>
          <a:custGeom>
            <a:avLst/>
            <a:gdLst/>
            <a:ahLst/>
            <a:cxnLst/>
            <a:rect l="l" t="t" r="r" b="b"/>
            <a:pathLst>
              <a:path w="6611938" h="4191000">
                <a:moveTo>
                  <a:pt x="63494" y="0"/>
                </a:moveTo>
                <a:lnTo>
                  <a:pt x="6548444" y="0"/>
                </a:lnTo>
                <a:cubicBezTo>
                  <a:pt x="6583510" y="0"/>
                  <a:pt x="6611938" y="28427"/>
                  <a:pt x="6611938" y="63494"/>
                </a:cubicBezTo>
                <a:lnTo>
                  <a:pt x="6611938" y="4127506"/>
                </a:lnTo>
                <a:cubicBezTo>
                  <a:pt x="6611938" y="4162573"/>
                  <a:pt x="6583510" y="4191000"/>
                  <a:pt x="6548444" y="4191000"/>
                </a:cubicBezTo>
                <a:lnTo>
                  <a:pt x="63494" y="4191000"/>
                </a:lnTo>
                <a:cubicBezTo>
                  <a:pt x="28427" y="4191000"/>
                  <a:pt x="0" y="4162573"/>
                  <a:pt x="0" y="4127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6250" y="1595438"/>
            <a:ext cx="637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Factors Positively Associated with Joint Decision-Making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6250" y="19446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436563" y="194468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+81%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1250" y="2024062"/>
            <a:ext cx="480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Modern Contraceptive 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1250" y="2214563"/>
            <a:ext cx="479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1.808 (95% CI: 1.478–2.211), p&lt;0.001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77186" y="2087563"/>
            <a:ext cx="793750" cy="222250"/>
          </a:xfrm>
          <a:custGeom>
            <a:avLst/>
            <a:gdLst/>
            <a:ahLst/>
            <a:cxnLst/>
            <a:rect l="l" t="t" r="r" b="b"/>
            <a:pathLst>
              <a:path w="793750" h="222250">
                <a:moveTo>
                  <a:pt x="111125" y="0"/>
                </a:moveTo>
                <a:lnTo>
                  <a:pt x="682625" y="0"/>
                </a:lnTo>
                <a:cubicBezTo>
                  <a:pt x="743957" y="0"/>
                  <a:pt x="793750" y="49793"/>
                  <a:pt x="793750" y="111125"/>
                </a:cubicBezTo>
                <a:lnTo>
                  <a:pt x="793750" y="111125"/>
                </a:lnTo>
                <a:cubicBezTo>
                  <a:pt x="793750" y="172457"/>
                  <a:pt x="743957" y="222250"/>
                  <a:pt x="682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21623" y="2087563"/>
            <a:ext cx="849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r">
              <a:lnSpc>
                <a:spcPct val="120000"/>
              </a:lnSpc>
            </a:pPr>
            <a:r>
              <a:rPr lang="en-US" sz="875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6250" y="2547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15" name="Text 13"/>
          <p:cNvSpPr/>
          <p:nvPr/>
        </p:nvSpPr>
        <p:spPr>
          <a:xfrm>
            <a:off x="436563" y="254793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+26%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" y="2627313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Poorer Wealth Quintile (vs. Poorest)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1250" y="281781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1.262 (95% CI: 1.017–1.566), p=0.035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6250" y="3151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9" name="Text 17"/>
          <p:cNvSpPr/>
          <p:nvPr/>
        </p:nvSpPr>
        <p:spPr>
          <a:xfrm>
            <a:off x="436563" y="315118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+76%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1250" y="3230563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Contraceptive Use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1250" y="342106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1.758 (95% CI: 1.285–2.405), p&lt;0.001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6250" y="37544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23" name="Text 21"/>
          <p:cNvSpPr/>
          <p:nvPr/>
        </p:nvSpPr>
        <p:spPr>
          <a:xfrm>
            <a:off x="436563" y="3754438"/>
            <a:ext cx="587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-16%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1250" y="3833812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2–3 Children (vs. 0–1)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1250" y="402431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0.838 (95% CI: 0.719–0.976), p=0.024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250" y="43576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27" name="Text 25"/>
          <p:cNvSpPr/>
          <p:nvPr/>
        </p:nvSpPr>
        <p:spPr>
          <a:xfrm>
            <a:off x="440531" y="4357688"/>
            <a:ext cx="57943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-24%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1250" y="4437063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Woman Wants Fewer Children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1250" y="462756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0.756 (95% CI: 0.646–0.886), p&lt;0.001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6250" y="4960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31" name="Text 29"/>
          <p:cNvSpPr/>
          <p:nvPr/>
        </p:nvSpPr>
        <p:spPr>
          <a:xfrm>
            <a:off x="440531" y="4960938"/>
            <a:ext cx="57943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-20%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1250" y="5040313"/>
            <a:ext cx="572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 Working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1250" y="5230813"/>
            <a:ext cx="571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0.804 (95% CI: 0.696–0.929), p=0.003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3375" y="5754688"/>
            <a:ext cx="6596063" cy="1174750"/>
          </a:xfrm>
          <a:custGeom>
            <a:avLst/>
            <a:gdLst/>
            <a:ahLst/>
            <a:cxnLst/>
            <a:rect l="l" t="t" r="r" b="b"/>
            <a:pathLst>
              <a:path w="6596063" h="1174750">
                <a:moveTo>
                  <a:pt x="31750" y="0"/>
                </a:moveTo>
                <a:lnTo>
                  <a:pt x="6532567" y="0"/>
                </a:lnTo>
                <a:cubicBezTo>
                  <a:pt x="6567635" y="0"/>
                  <a:pt x="6596063" y="28428"/>
                  <a:pt x="6596063" y="63495"/>
                </a:cubicBezTo>
                <a:lnTo>
                  <a:pt x="6596063" y="1111255"/>
                </a:lnTo>
                <a:cubicBezTo>
                  <a:pt x="6596063" y="1146322"/>
                  <a:pt x="6567635" y="1174750"/>
                  <a:pt x="6532567" y="1174750"/>
                </a:cubicBezTo>
                <a:lnTo>
                  <a:pt x="31750" y="1174750"/>
                </a:lnTo>
                <a:cubicBezTo>
                  <a:pt x="14215" y="1174750"/>
                  <a:pt x="0" y="1160535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3375" y="5754688"/>
            <a:ext cx="31750" cy="1174750"/>
          </a:xfrm>
          <a:custGeom>
            <a:avLst/>
            <a:gdLst/>
            <a:ahLst/>
            <a:cxnLst/>
            <a:rect l="l" t="t" r="r" b="b"/>
            <a:pathLst>
              <a:path w="31750" h="1174750">
                <a:moveTo>
                  <a:pt x="31750" y="0"/>
                </a:moveTo>
                <a:lnTo>
                  <a:pt x="31750" y="0"/>
                </a:lnTo>
                <a:lnTo>
                  <a:pt x="31750" y="1174750"/>
                </a:lnTo>
                <a:lnTo>
                  <a:pt x="31750" y="1174750"/>
                </a:lnTo>
                <a:cubicBezTo>
                  <a:pt x="14227" y="1174750"/>
                  <a:pt x="0" y="1160523"/>
                  <a:pt x="0" y="1143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36" name="Shape 34"/>
          <p:cNvSpPr/>
          <p:nvPr/>
        </p:nvSpPr>
        <p:spPr>
          <a:xfrm>
            <a:off x="508000" y="594518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37" name="Text 35"/>
          <p:cNvSpPr/>
          <p:nvPr/>
        </p:nvSpPr>
        <p:spPr>
          <a:xfrm>
            <a:off x="706438" y="5913438"/>
            <a:ext cx="6143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Risk Factor (Reduces Joint Decision)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8000" y="624681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39" name="Text 37"/>
          <p:cNvSpPr/>
          <p:nvPr/>
        </p:nvSpPr>
        <p:spPr>
          <a:xfrm>
            <a:off x="472281" y="6246813"/>
            <a:ext cx="579438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-49%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43000" y="6230938"/>
            <a:ext cx="569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A6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Husband Desires More Children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43000" y="6421438"/>
            <a:ext cx="568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RRR = 0.515 (95% CI: 0.445–0.597), p&lt;0.001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3000" y="6611938"/>
            <a:ext cx="568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husbands want more children, women are 49% less likely to be in joint decisions — decisions shift toward male dominance instead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87195" y="1436688"/>
            <a:ext cx="4786313" cy="3667125"/>
          </a:xfrm>
          <a:custGeom>
            <a:avLst/>
            <a:gdLst/>
            <a:ahLst/>
            <a:cxnLst/>
            <a:rect l="l" t="t" r="r" b="b"/>
            <a:pathLst>
              <a:path w="4786313" h="3667125">
                <a:moveTo>
                  <a:pt x="63515" y="0"/>
                </a:moveTo>
                <a:lnTo>
                  <a:pt x="4722798" y="0"/>
                </a:lnTo>
                <a:cubicBezTo>
                  <a:pt x="4757876" y="0"/>
                  <a:pt x="4786312" y="28436"/>
                  <a:pt x="4786312" y="63515"/>
                </a:cubicBezTo>
                <a:lnTo>
                  <a:pt x="4786313" y="3603610"/>
                </a:lnTo>
                <a:cubicBezTo>
                  <a:pt x="4786312" y="3638689"/>
                  <a:pt x="4757876" y="3667125"/>
                  <a:pt x="4722798" y="3667125"/>
                </a:cubicBezTo>
                <a:lnTo>
                  <a:pt x="63515" y="3667125"/>
                </a:lnTo>
                <a:cubicBezTo>
                  <a:pt x="28436" y="3667125"/>
                  <a:pt x="0" y="3638689"/>
                  <a:pt x="0" y="3603610"/>
                </a:cubicBezTo>
                <a:lnTo>
                  <a:pt x="0" y="63515"/>
                </a:lnTo>
                <a:cubicBezTo>
                  <a:pt x="0" y="28460"/>
                  <a:pt x="28460" y="0"/>
                  <a:pt x="63515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44" name="Shape 42"/>
          <p:cNvSpPr/>
          <p:nvPr/>
        </p:nvSpPr>
        <p:spPr>
          <a:xfrm>
            <a:off x="7285633" y="16271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5" name="Text 43"/>
          <p:cNvSpPr/>
          <p:nvPr/>
        </p:nvSpPr>
        <p:spPr>
          <a:xfrm>
            <a:off x="7444383" y="1595438"/>
            <a:ext cx="434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Insight: Contraception and Autonomy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45945" y="1944688"/>
            <a:ext cx="4532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contraceptive use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strongest predictor of joint decision-making (RRR=1.808). This likely reflects a bidirectional relationship: joint decisions lead to contraceptive uptake, and contraceptive use facilitates couple communication.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45945" y="2452688"/>
            <a:ext cx="4532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women are 20% less likely to be in joint decision arrangements (RRR=0.804), suggesting that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economic independence enables women to decide independently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share decision-making power with partners.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45945" y="2960688"/>
            <a:ext cx="4532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 education variables were </a:t>
            </a:r>
            <a:r>
              <a:rPr lang="en-US" sz="1000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significant 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joint decision-making in the final model after controlling for all other variables.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245945" y="3503083"/>
            <a:ext cx="4468813" cy="5292"/>
          </a:xfrm>
          <a:custGeom>
            <a:avLst/>
            <a:gdLst/>
            <a:ahLst/>
            <a:cxnLst/>
            <a:rect l="l" t="t" r="r" b="b"/>
            <a:pathLst>
              <a:path w="4468813" h="5292">
                <a:moveTo>
                  <a:pt x="0" y="0"/>
                </a:moveTo>
                <a:lnTo>
                  <a:pt x="4468813" y="0"/>
                </a:lnTo>
                <a:lnTo>
                  <a:pt x="4468813" y="5292"/>
                </a:lnTo>
                <a:lnTo>
                  <a:pt x="0" y="52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261820" y="365918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1" name="Text 49"/>
          <p:cNvSpPr/>
          <p:nvPr/>
        </p:nvSpPr>
        <p:spPr>
          <a:xfrm>
            <a:off x="7444383" y="3632732"/>
            <a:ext cx="4333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contraceptive use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strongly associated with joint decision-making (RRR=1.808), consistent with the interpretation that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joint decisions more readily lead to actual contraceptive uptake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87195" y="5230813"/>
            <a:ext cx="4786313" cy="1698625"/>
          </a:xfrm>
          <a:custGeom>
            <a:avLst/>
            <a:gdLst/>
            <a:ahLst/>
            <a:cxnLst/>
            <a:rect l="l" t="t" r="r" b="b"/>
            <a:pathLst>
              <a:path w="4786313" h="1698625">
                <a:moveTo>
                  <a:pt x="63495" y="0"/>
                </a:moveTo>
                <a:lnTo>
                  <a:pt x="4722818" y="0"/>
                </a:lnTo>
                <a:cubicBezTo>
                  <a:pt x="4757885" y="0"/>
                  <a:pt x="4786312" y="28428"/>
                  <a:pt x="4786312" y="63495"/>
                </a:cubicBezTo>
                <a:lnTo>
                  <a:pt x="4786313" y="1635130"/>
                </a:lnTo>
                <a:cubicBezTo>
                  <a:pt x="4786312" y="1670197"/>
                  <a:pt x="4757885" y="1698625"/>
                  <a:pt x="4722818" y="1698625"/>
                </a:cubicBezTo>
                <a:lnTo>
                  <a:pt x="63495" y="1698625"/>
                </a:lnTo>
                <a:cubicBezTo>
                  <a:pt x="28428" y="1698625"/>
                  <a:pt x="0" y="1670197"/>
                  <a:pt x="0" y="1635130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53" name="Image 0" descr="https://kimi-web-img.moonshot.cn/img/images.squarespace-cdn.com/571879105341c873b09aa2ad265c31c1f27e06dc.jpg"/>
          <p:cNvPicPr>
            <a:picLocks noChangeAspect="1"/>
          </p:cNvPicPr>
          <p:nvPr/>
        </p:nvPicPr>
        <p:blipFill>
          <a:blip r:embed="rId3"/>
          <a:srcRect t="30302" b="30302"/>
          <a:stretch/>
        </p:blipFill>
        <p:spPr>
          <a:xfrm>
            <a:off x="7214195" y="5357813"/>
            <a:ext cx="4532313" cy="1190625"/>
          </a:xfrm>
          <a:prstGeom prst="roundRect">
            <a:avLst>
              <a:gd name="adj" fmla="val 5333"/>
            </a:avLst>
          </a:prstGeom>
        </p:spPr>
      </p:pic>
      <p:sp>
        <p:nvSpPr>
          <p:cNvPr id="54" name="Text 51"/>
          <p:cNvSpPr/>
          <p:nvPr/>
        </p:nvSpPr>
        <p:spPr>
          <a:xfrm>
            <a:off x="7186414" y="6643688"/>
            <a:ext cx="458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 empowers women and promotes shared decision-making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Discussion: Key Insights and Implications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160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74750"/>
            <a:ext cx="5683250" cy="1968500"/>
          </a:xfrm>
          <a:custGeom>
            <a:avLst/>
            <a:gdLst/>
            <a:ahLst/>
            <a:cxnLst/>
            <a:rect l="l" t="t" r="r" b="b"/>
            <a:pathLst>
              <a:path w="5683250" h="1968500">
                <a:moveTo>
                  <a:pt x="31750" y="0"/>
                </a:moveTo>
                <a:lnTo>
                  <a:pt x="5619746" y="0"/>
                </a:lnTo>
                <a:cubicBezTo>
                  <a:pt x="5654818" y="0"/>
                  <a:pt x="5683250" y="28432"/>
                  <a:pt x="5683250" y="63504"/>
                </a:cubicBezTo>
                <a:lnTo>
                  <a:pt x="5683250" y="1904996"/>
                </a:lnTo>
                <a:cubicBezTo>
                  <a:pt x="5683250" y="1940068"/>
                  <a:pt x="5654818" y="1968500"/>
                  <a:pt x="5619746" y="1968500"/>
                </a:cubicBezTo>
                <a:lnTo>
                  <a:pt x="31750" y="1968500"/>
                </a:lnTo>
                <a:cubicBezTo>
                  <a:pt x="14215" y="1968500"/>
                  <a:pt x="0" y="1954285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1174750"/>
            <a:ext cx="31750" cy="1968500"/>
          </a:xfrm>
          <a:custGeom>
            <a:avLst/>
            <a:gdLst/>
            <a:ahLst/>
            <a:cxnLst/>
            <a:rect l="l" t="t" r="r" b="b"/>
            <a:pathLst>
              <a:path w="31750" h="1968500">
                <a:moveTo>
                  <a:pt x="31750" y="0"/>
                </a:moveTo>
                <a:lnTo>
                  <a:pt x="31750" y="0"/>
                </a:lnTo>
                <a:lnTo>
                  <a:pt x="31750" y="1968500"/>
                </a:lnTo>
                <a:lnTo>
                  <a:pt x="31750" y="1968500"/>
                </a:lnTo>
                <a:cubicBezTo>
                  <a:pt x="14227" y="1968500"/>
                  <a:pt x="0" y="1954273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3493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8" name="Text 6"/>
          <p:cNvSpPr/>
          <p:nvPr/>
        </p:nvSpPr>
        <p:spPr>
          <a:xfrm>
            <a:off x="841375" y="1333500"/>
            <a:ext cx="266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Prevalence of Joint Decision-Making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1651000"/>
            <a:ext cx="5413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finding that </a:t>
            </a: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41.3% of women engage in joint decision-making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may reflect the culturally negotiated nature of contraceptive use in Cameroon, where male partner involvement is normatively expected.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2365375"/>
            <a:ext cx="5413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pattern aligns with the broader documentation in sub-Saharan Africa and is particularly noteworthy in the Cameroonian context, where </a:t>
            </a: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patriarchal household structures remain prevalent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375" y="3270250"/>
            <a:ext cx="5683250" cy="1762125"/>
          </a:xfrm>
          <a:custGeom>
            <a:avLst/>
            <a:gdLst/>
            <a:ahLst/>
            <a:cxnLst/>
            <a:rect l="l" t="t" r="r" b="b"/>
            <a:pathLst>
              <a:path w="5683250" h="1762125">
                <a:moveTo>
                  <a:pt x="31750" y="0"/>
                </a:moveTo>
                <a:lnTo>
                  <a:pt x="5619743" y="0"/>
                </a:lnTo>
                <a:cubicBezTo>
                  <a:pt x="5654817" y="0"/>
                  <a:pt x="5683250" y="28433"/>
                  <a:pt x="5683250" y="63507"/>
                </a:cubicBezTo>
                <a:lnTo>
                  <a:pt x="5683250" y="1698618"/>
                </a:lnTo>
                <a:cubicBezTo>
                  <a:pt x="5683250" y="1733692"/>
                  <a:pt x="5654817" y="1762125"/>
                  <a:pt x="5619743" y="1762125"/>
                </a:cubicBezTo>
                <a:lnTo>
                  <a:pt x="31750" y="1762125"/>
                </a:lnTo>
                <a:cubicBezTo>
                  <a:pt x="14227" y="1762125"/>
                  <a:pt x="0" y="1747898"/>
                  <a:pt x="0" y="173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375" y="3270250"/>
            <a:ext cx="31750" cy="1762125"/>
          </a:xfrm>
          <a:custGeom>
            <a:avLst/>
            <a:gdLst/>
            <a:ahLst/>
            <a:cxnLst/>
            <a:rect l="l" t="t" r="r" b="b"/>
            <a:pathLst>
              <a:path w="31750" h="1762125">
                <a:moveTo>
                  <a:pt x="31750" y="0"/>
                </a:moveTo>
                <a:lnTo>
                  <a:pt x="31750" y="0"/>
                </a:lnTo>
                <a:lnTo>
                  <a:pt x="31750" y="1762125"/>
                </a:lnTo>
                <a:lnTo>
                  <a:pt x="31750" y="1762125"/>
                </a:lnTo>
                <a:cubicBezTo>
                  <a:pt x="14227" y="1762125"/>
                  <a:pt x="0" y="1747898"/>
                  <a:pt x="0" y="1730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3" name="Shape 11"/>
          <p:cNvSpPr/>
          <p:nvPr/>
        </p:nvSpPr>
        <p:spPr>
          <a:xfrm>
            <a:off x="519906" y="34448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375" y="3429000"/>
            <a:ext cx="154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Education's Dual Effect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8000" y="3746500"/>
            <a:ext cx="5413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negative association between education and husband-only decision-making is consistent with extensive literature demonstrating that </a:t>
            </a: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 improves women's control over their reproductive choices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increasing their position within the household.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8000" y="4460875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 also appears to </a:t>
            </a: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facilitate couple communication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as evidenced by the positive association between higher education and joint decision-making.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375" y="5159375"/>
            <a:ext cx="5683250" cy="1460500"/>
          </a:xfrm>
          <a:custGeom>
            <a:avLst/>
            <a:gdLst/>
            <a:ahLst/>
            <a:cxnLst/>
            <a:rect l="l" t="t" r="r" b="b"/>
            <a:pathLst>
              <a:path w="5683250" h="1460500">
                <a:moveTo>
                  <a:pt x="31750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1396997"/>
                </a:lnTo>
                <a:cubicBezTo>
                  <a:pt x="5683250" y="1432069"/>
                  <a:pt x="5654819" y="1460500"/>
                  <a:pt x="5619747" y="1460500"/>
                </a:cubicBezTo>
                <a:lnTo>
                  <a:pt x="31750" y="1460500"/>
                </a:lnTo>
                <a:cubicBezTo>
                  <a:pt x="14227" y="1460500"/>
                  <a:pt x="0" y="1446273"/>
                  <a:pt x="0" y="1428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375" y="5159375"/>
            <a:ext cx="31750" cy="1460500"/>
          </a:xfrm>
          <a:custGeom>
            <a:avLst/>
            <a:gdLst/>
            <a:ahLst/>
            <a:cxnLst/>
            <a:rect l="l" t="t" r="r" b="b"/>
            <a:pathLst>
              <a:path w="31750" h="1460500">
                <a:moveTo>
                  <a:pt x="31750" y="0"/>
                </a:moveTo>
                <a:lnTo>
                  <a:pt x="31750" y="0"/>
                </a:lnTo>
                <a:lnTo>
                  <a:pt x="31750" y="1460500"/>
                </a:lnTo>
                <a:lnTo>
                  <a:pt x="31750" y="1460500"/>
                </a:lnTo>
                <a:cubicBezTo>
                  <a:pt x="14227" y="1460500"/>
                  <a:pt x="0" y="1446273"/>
                  <a:pt x="0" y="1428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9" name="Shape 17"/>
          <p:cNvSpPr/>
          <p:nvPr/>
        </p:nvSpPr>
        <p:spPr>
          <a:xfrm>
            <a:off x="555625" y="5334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273" y="8930"/>
                </a:moveTo>
                <a:cubicBezTo>
                  <a:pt x="92273" y="-2570"/>
                  <a:pt x="82937" y="-11906"/>
                  <a:pt x="71438" y="-11906"/>
                </a:cubicBezTo>
                <a:cubicBezTo>
                  <a:pt x="59938" y="-11906"/>
                  <a:pt x="50602" y="-2570"/>
                  <a:pt x="50602" y="8930"/>
                </a:cubicBezTo>
                <a:cubicBezTo>
                  <a:pt x="50602" y="20429"/>
                  <a:pt x="59938" y="29766"/>
                  <a:pt x="71438" y="29766"/>
                </a:cubicBezTo>
                <a:cubicBezTo>
                  <a:pt x="82937" y="29766"/>
                  <a:pt x="92273" y="20429"/>
                  <a:pt x="92273" y="8930"/>
                </a:cubicBezTo>
                <a:close/>
                <a:moveTo>
                  <a:pt x="101203" y="88069"/>
                </a:moveTo>
                <a:lnTo>
                  <a:pt x="118430" y="111286"/>
                </a:lnTo>
                <a:cubicBezTo>
                  <a:pt x="122337" y="116570"/>
                  <a:pt x="129815" y="117686"/>
                  <a:pt x="135099" y="113742"/>
                </a:cubicBezTo>
                <a:cubicBezTo>
                  <a:pt x="140382" y="109798"/>
                  <a:pt x="141498" y="102357"/>
                  <a:pt x="137554" y="97073"/>
                </a:cubicBezTo>
                <a:lnTo>
                  <a:pt x="111323" y="61726"/>
                </a:lnTo>
                <a:cubicBezTo>
                  <a:pt x="101947" y="49113"/>
                  <a:pt x="87176" y="41672"/>
                  <a:pt x="71438" y="41672"/>
                </a:cubicBezTo>
                <a:cubicBezTo>
                  <a:pt x="55699" y="41672"/>
                  <a:pt x="40928" y="49113"/>
                  <a:pt x="31552" y="61726"/>
                </a:cubicBezTo>
                <a:lnTo>
                  <a:pt x="5321" y="97073"/>
                </a:lnTo>
                <a:cubicBezTo>
                  <a:pt x="1414" y="102357"/>
                  <a:pt x="2493" y="109798"/>
                  <a:pt x="7776" y="113742"/>
                </a:cubicBezTo>
                <a:cubicBezTo>
                  <a:pt x="13060" y="117686"/>
                  <a:pt x="20501" y="116570"/>
                  <a:pt x="24445" y="111286"/>
                </a:cubicBezTo>
                <a:lnTo>
                  <a:pt x="41672" y="88069"/>
                </a:lnTo>
                <a:lnTo>
                  <a:pt x="41672" y="190500"/>
                </a:lnTo>
                <a:cubicBezTo>
                  <a:pt x="41672" y="197086"/>
                  <a:pt x="46992" y="202406"/>
                  <a:pt x="53578" y="202406"/>
                </a:cubicBezTo>
                <a:cubicBezTo>
                  <a:pt x="60164" y="202406"/>
                  <a:pt x="65484" y="197086"/>
                  <a:pt x="65484" y="190500"/>
                </a:cubicBezTo>
                <a:lnTo>
                  <a:pt x="65484" y="130969"/>
                </a:lnTo>
                <a:cubicBezTo>
                  <a:pt x="65484" y="127695"/>
                  <a:pt x="68163" y="125016"/>
                  <a:pt x="71438" y="125016"/>
                </a:cubicBezTo>
                <a:cubicBezTo>
                  <a:pt x="74712" y="125016"/>
                  <a:pt x="77391" y="127695"/>
                  <a:pt x="77391" y="130969"/>
                </a:cubicBezTo>
                <a:lnTo>
                  <a:pt x="77391" y="190500"/>
                </a:lnTo>
                <a:cubicBezTo>
                  <a:pt x="77391" y="197086"/>
                  <a:pt x="82711" y="202406"/>
                  <a:pt x="89297" y="202406"/>
                </a:cubicBezTo>
                <a:cubicBezTo>
                  <a:pt x="95883" y="202406"/>
                  <a:pt x="101203" y="197086"/>
                  <a:pt x="101203" y="190500"/>
                </a:cubicBezTo>
                <a:lnTo>
                  <a:pt x="101203" y="88069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375" y="5318125"/>
            <a:ext cx="271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Partner Influence on Fertility Preferences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8000" y="5635625"/>
            <a:ext cx="541337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strong positive association between husband's desire for more children and husband-alone decision-making (RRR=1.569) is consistent with research in Mozambique and Honduras showing that </a:t>
            </a: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husbands' pronatalist preferences substantially constrain women's ability to decide on contraceptive use independently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1174750"/>
            <a:ext cx="5683250" cy="1968500"/>
          </a:xfrm>
          <a:custGeom>
            <a:avLst/>
            <a:gdLst/>
            <a:ahLst/>
            <a:cxnLst/>
            <a:rect l="l" t="t" r="r" b="b"/>
            <a:pathLst>
              <a:path w="5683250" h="1968500">
                <a:moveTo>
                  <a:pt x="31750" y="0"/>
                </a:moveTo>
                <a:lnTo>
                  <a:pt x="5619746" y="0"/>
                </a:lnTo>
                <a:cubicBezTo>
                  <a:pt x="5654818" y="0"/>
                  <a:pt x="5683250" y="28432"/>
                  <a:pt x="5683250" y="63504"/>
                </a:cubicBezTo>
                <a:lnTo>
                  <a:pt x="5683250" y="1904996"/>
                </a:lnTo>
                <a:cubicBezTo>
                  <a:pt x="5683250" y="1940068"/>
                  <a:pt x="5654818" y="1968500"/>
                  <a:pt x="5619746" y="1968500"/>
                </a:cubicBezTo>
                <a:lnTo>
                  <a:pt x="31750" y="1968500"/>
                </a:lnTo>
                <a:cubicBezTo>
                  <a:pt x="14215" y="1968500"/>
                  <a:pt x="0" y="1954285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1250" y="1174750"/>
            <a:ext cx="31750" cy="1968500"/>
          </a:xfrm>
          <a:custGeom>
            <a:avLst/>
            <a:gdLst/>
            <a:ahLst/>
            <a:cxnLst/>
            <a:rect l="l" t="t" r="r" b="b"/>
            <a:pathLst>
              <a:path w="31750" h="1968500">
                <a:moveTo>
                  <a:pt x="31750" y="0"/>
                </a:moveTo>
                <a:lnTo>
                  <a:pt x="31750" y="0"/>
                </a:lnTo>
                <a:lnTo>
                  <a:pt x="31750" y="1968500"/>
                </a:lnTo>
                <a:lnTo>
                  <a:pt x="31750" y="1968500"/>
                </a:lnTo>
                <a:cubicBezTo>
                  <a:pt x="14227" y="1968500"/>
                  <a:pt x="0" y="1954273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7781" y="13493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47625" y="23812"/>
                </a:moveTo>
                <a:cubicBezTo>
                  <a:pt x="47625" y="10678"/>
                  <a:pt x="58303" y="0"/>
                  <a:pt x="71438" y="0"/>
                </a:cubicBezTo>
                <a:lnTo>
                  <a:pt x="142875" y="0"/>
                </a:lnTo>
                <a:cubicBezTo>
                  <a:pt x="156009" y="0"/>
                  <a:pt x="166688" y="10678"/>
                  <a:pt x="166688" y="23812"/>
                </a:cubicBezTo>
                <a:lnTo>
                  <a:pt x="166688" y="47625"/>
                </a:lnTo>
                <a:lnTo>
                  <a:pt x="190500" y="47625"/>
                </a:lnTo>
                <a:cubicBezTo>
                  <a:pt x="203634" y="47625"/>
                  <a:pt x="214313" y="58303"/>
                  <a:pt x="214313" y="71438"/>
                </a:cubicBezTo>
                <a:lnTo>
                  <a:pt x="214313" y="166688"/>
                </a:lnTo>
                <a:cubicBezTo>
                  <a:pt x="214313" y="179822"/>
                  <a:pt x="203634" y="190500"/>
                  <a:pt x="190500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71438"/>
                </a:lnTo>
                <a:cubicBezTo>
                  <a:pt x="0" y="58303"/>
                  <a:pt x="10678" y="47625"/>
                  <a:pt x="23812" y="47625"/>
                </a:cubicBezTo>
                <a:lnTo>
                  <a:pt x="47625" y="47625"/>
                </a:lnTo>
                <a:lnTo>
                  <a:pt x="47625" y="23812"/>
                </a:lnTo>
                <a:close/>
                <a:moveTo>
                  <a:pt x="101203" y="130969"/>
                </a:moveTo>
                <a:cubicBezTo>
                  <a:pt x="94617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125016" y="172641"/>
                </a:lnTo>
                <a:lnTo>
                  <a:pt x="125016" y="142875"/>
                </a:lnTo>
                <a:cubicBezTo>
                  <a:pt x="125016" y="136289"/>
                  <a:pt x="119695" y="130969"/>
                  <a:pt x="113109" y="130969"/>
                </a:cubicBezTo>
                <a:lnTo>
                  <a:pt x="101203" y="130969"/>
                </a:lnTo>
                <a:close/>
                <a:moveTo>
                  <a:pt x="47625" y="136922"/>
                </a:moveTo>
                <a:lnTo>
                  <a:pt x="47625" y="125016"/>
                </a:lnTo>
                <a:cubicBezTo>
                  <a:pt x="47625" y="121741"/>
                  <a:pt x="44946" y="119063"/>
                  <a:pt x="41672" y="119063"/>
                </a:cubicBezTo>
                <a:lnTo>
                  <a:pt x="29766" y="119063"/>
                </a:lnTo>
                <a:cubicBezTo>
                  <a:pt x="26491" y="119063"/>
                  <a:pt x="23812" y="121741"/>
                  <a:pt x="23812" y="125016"/>
                </a:cubicBezTo>
                <a:lnTo>
                  <a:pt x="23812" y="136922"/>
                </a:lnTo>
                <a:cubicBezTo>
                  <a:pt x="23812" y="140196"/>
                  <a:pt x="26491" y="142875"/>
                  <a:pt x="29766" y="142875"/>
                </a:cubicBezTo>
                <a:lnTo>
                  <a:pt x="41672" y="142875"/>
                </a:lnTo>
                <a:cubicBezTo>
                  <a:pt x="44946" y="142875"/>
                  <a:pt x="47625" y="140196"/>
                  <a:pt x="47625" y="136922"/>
                </a:cubicBezTo>
                <a:close/>
                <a:moveTo>
                  <a:pt x="41672" y="95250"/>
                </a:moveTo>
                <a:cubicBezTo>
                  <a:pt x="44946" y="95250"/>
                  <a:pt x="47625" y="92571"/>
                  <a:pt x="47625" y="89297"/>
                </a:cubicBezTo>
                <a:lnTo>
                  <a:pt x="47625" y="77391"/>
                </a:lnTo>
                <a:cubicBezTo>
                  <a:pt x="47625" y="74116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74116"/>
                  <a:pt x="23812" y="77391"/>
                </a:cubicBezTo>
                <a:lnTo>
                  <a:pt x="23812" y="89297"/>
                </a:lnTo>
                <a:cubicBezTo>
                  <a:pt x="23812" y="92571"/>
                  <a:pt x="26491" y="95250"/>
                  <a:pt x="29766" y="95250"/>
                </a:cubicBezTo>
                <a:lnTo>
                  <a:pt x="41672" y="95250"/>
                </a:lnTo>
                <a:close/>
                <a:moveTo>
                  <a:pt x="190500" y="136922"/>
                </a:moveTo>
                <a:lnTo>
                  <a:pt x="190500" y="125016"/>
                </a:lnTo>
                <a:cubicBezTo>
                  <a:pt x="190500" y="121741"/>
                  <a:pt x="187821" y="119063"/>
                  <a:pt x="184547" y="119063"/>
                </a:cubicBezTo>
                <a:lnTo>
                  <a:pt x="172641" y="119063"/>
                </a:lnTo>
                <a:cubicBezTo>
                  <a:pt x="169366" y="119063"/>
                  <a:pt x="166688" y="121741"/>
                  <a:pt x="166688" y="125016"/>
                </a:cubicBezTo>
                <a:lnTo>
                  <a:pt x="166688" y="136922"/>
                </a:lnTo>
                <a:cubicBezTo>
                  <a:pt x="166688" y="140196"/>
                  <a:pt x="169366" y="142875"/>
                  <a:pt x="172641" y="142875"/>
                </a:cubicBezTo>
                <a:lnTo>
                  <a:pt x="184547" y="142875"/>
                </a:lnTo>
                <a:cubicBezTo>
                  <a:pt x="187821" y="142875"/>
                  <a:pt x="190500" y="140196"/>
                  <a:pt x="190500" y="136922"/>
                </a:cubicBezTo>
                <a:close/>
                <a:moveTo>
                  <a:pt x="184547" y="95250"/>
                </a:moveTo>
                <a:cubicBezTo>
                  <a:pt x="187821" y="95250"/>
                  <a:pt x="190500" y="92571"/>
                  <a:pt x="190500" y="89297"/>
                </a:cubicBezTo>
                <a:lnTo>
                  <a:pt x="190500" y="77391"/>
                </a:lnTo>
                <a:cubicBezTo>
                  <a:pt x="190500" y="74116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74116"/>
                  <a:pt x="166688" y="77391"/>
                </a:cubicBezTo>
                <a:lnTo>
                  <a:pt x="166688" y="89297"/>
                </a:lnTo>
                <a:cubicBezTo>
                  <a:pt x="166688" y="92571"/>
                  <a:pt x="169366" y="95250"/>
                  <a:pt x="172641" y="95250"/>
                </a:cubicBezTo>
                <a:lnTo>
                  <a:pt x="184547" y="95250"/>
                </a:lnTo>
                <a:close/>
                <a:moveTo>
                  <a:pt x="98227" y="38695"/>
                </a:moveTo>
                <a:lnTo>
                  <a:pt x="98227" y="50602"/>
                </a:lnTo>
                <a:lnTo>
                  <a:pt x="86320" y="50602"/>
                </a:lnTo>
                <a:cubicBezTo>
                  <a:pt x="83046" y="50602"/>
                  <a:pt x="80367" y="53280"/>
                  <a:pt x="80367" y="56555"/>
                </a:cubicBezTo>
                <a:lnTo>
                  <a:pt x="80367" y="62508"/>
                </a:lnTo>
                <a:cubicBezTo>
                  <a:pt x="80367" y="65782"/>
                  <a:pt x="83046" y="68461"/>
                  <a:pt x="86320" y="68461"/>
                </a:cubicBezTo>
                <a:lnTo>
                  <a:pt x="98227" y="68461"/>
                </a:lnTo>
                <a:lnTo>
                  <a:pt x="98227" y="80367"/>
                </a:lnTo>
                <a:cubicBezTo>
                  <a:pt x="98227" y="83641"/>
                  <a:pt x="100905" y="86320"/>
                  <a:pt x="104180" y="86320"/>
                </a:cubicBezTo>
                <a:lnTo>
                  <a:pt x="110133" y="86320"/>
                </a:lnTo>
                <a:cubicBezTo>
                  <a:pt x="113407" y="86320"/>
                  <a:pt x="116086" y="83641"/>
                  <a:pt x="116086" y="80367"/>
                </a:cubicBezTo>
                <a:lnTo>
                  <a:pt x="116086" y="68461"/>
                </a:lnTo>
                <a:lnTo>
                  <a:pt x="127992" y="68461"/>
                </a:lnTo>
                <a:cubicBezTo>
                  <a:pt x="131266" y="68461"/>
                  <a:pt x="133945" y="65782"/>
                  <a:pt x="133945" y="62508"/>
                </a:cubicBezTo>
                <a:lnTo>
                  <a:pt x="133945" y="56555"/>
                </a:lnTo>
                <a:cubicBezTo>
                  <a:pt x="133945" y="53280"/>
                  <a:pt x="131266" y="50602"/>
                  <a:pt x="127992" y="50602"/>
                </a:cubicBezTo>
                <a:lnTo>
                  <a:pt x="116086" y="50602"/>
                </a:lnTo>
                <a:lnTo>
                  <a:pt x="116086" y="38695"/>
                </a:lnTo>
                <a:cubicBezTo>
                  <a:pt x="116086" y="35421"/>
                  <a:pt x="113407" y="32742"/>
                  <a:pt x="110133" y="32742"/>
                </a:cubicBezTo>
                <a:lnTo>
                  <a:pt x="104180" y="32742"/>
                </a:lnTo>
                <a:cubicBezTo>
                  <a:pt x="100905" y="32742"/>
                  <a:pt x="98227" y="35421"/>
                  <a:pt x="98227" y="38695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25" name="Text 23"/>
          <p:cNvSpPr/>
          <p:nvPr/>
        </p:nvSpPr>
        <p:spPr>
          <a:xfrm>
            <a:off x="6699250" y="133350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Health Facility Contact as an Enabler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65875" y="1651000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facility contact—specifically staff discussing family planning—was associated with </a:t>
            </a: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reduced husband-only decision-making and increased joint decision-making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5875" y="2159000"/>
            <a:ext cx="541337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in urban and rural Cameroon has consistently identified health facility-based family planning counselling as a </a:t>
            </a: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enabler of contraceptive uptake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current findings extend this by demonstrating that facility-based FP information is also associated with the locus of reproductive decision-making.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5375" y="3270250"/>
            <a:ext cx="5699125" cy="2301875"/>
          </a:xfrm>
          <a:custGeom>
            <a:avLst/>
            <a:gdLst/>
            <a:ahLst/>
            <a:cxnLst/>
            <a:rect l="l" t="t" r="r" b="b"/>
            <a:pathLst>
              <a:path w="5699125" h="2301875">
                <a:moveTo>
                  <a:pt x="63509" y="0"/>
                </a:moveTo>
                <a:lnTo>
                  <a:pt x="5635616" y="0"/>
                </a:lnTo>
                <a:cubicBezTo>
                  <a:pt x="5670691" y="0"/>
                  <a:pt x="5699125" y="28434"/>
                  <a:pt x="5699125" y="63509"/>
                </a:cubicBezTo>
                <a:lnTo>
                  <a:pt x="5699125" y="2238366"/>
                </a:lnTo>
                <a:cubicBezTo>
                  <a:pt x="5699125" y="2273441"/>
                  <a:pt x="5670691" y="2301875"/>
                  <a:pt x="5635616" y="2301875"/>
                </a:cubicBezTo>
                <a:lnTo>
                  <a:pt x="63509" y="2301875"/>
                </a:lnTo>
                <a:cubicBezTo>
                  <a:pt x="28434" y="2301875"/>
                  <a:pt x="0" y="2273441"/>
                  <a:pt x="0" y="2238366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3969" y="3460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30" name="Text 28"/>
          <p:cNvSpPr/>
          <p:nvPr/>
        </p:nvSpPr>
        <p:spPr>
          <a:xfrm>
            <a:off x="6532563" y="342900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Study Limitations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34125" y="3778250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Cross-sectional design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precludes causal inference—associations reflect correlations that must be interpreted cautiously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34125" y="4254500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Domestic violence module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could not be included due to high missingness, potentially omitting an important determinant of reproductive coercion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34125" y="4730750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Household decision-making variables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were not included as independent variables given their conceptual proximity to the outcome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34125" y="5207000"/>
            <a:ext cx="54451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Cluster-level variables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might justify multilevel modelling were not explored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5375" y="5699125"/>
            <a:ext cx="5699125" cy="1539875"/>
          </a:xfrm>
          <a:custGeom>
            <a:avLst/>
            <a:gdLst/>
            <a:ahLst/>
            <a:cxnLst/>
            <a:rect l="l" t="t" r="r" b="b"/>
            <a:pathLst>
              <a:path w="5699125" h="1539875">
                <a:moveTo>
                  <a:pt x="63504" y="0"/>
                </a:moveTo>
                <a:lnTo>
                  <a:pt x="5635621" y="0"/>
                </a:lnTo>
                <a:cubicBezTo>
                  <a:pt x="5670693" y="0"/>
                  <a:pt x="5699125" y="28432"/>
                  <a:pt x="5699125" y="63504"/>
                </a:cubicBezTo>
                <a:lnTo>
                  <a:pt x="5699125" y="1476371"/>
                </a:lnTo>
                <a:cubicBezTo>
                  <a:pt x="5699125" y="1511443"/>
                  <a:pt x="5670693" y="1539875"/>
                  <a:pt x="5635621" y="1539875"/>
                </a:cubicBezTo>
                <a:lnTo>
                  <a:pt x="63504" y="1539875"/>
                </a:lnTo>
                <a:cubicBezTo>
                  <a:pt x="28432" y="1539875"/>
                  <a:pt x="0" y="1511443"/>
                  <a:pt x="0" y="1476371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6" name="Image 0" descr="https://kimi-web-img.moonshot.cn/img/www.undp.org/98ea2660fc7a5f378fbc6f36c8e0012acaf8d55e.jpg"/>
          <p:cNvPicPr>
            <a:picLocks noChangeAspect="1"/>
          </p:cNvPicPr>
          <p:nvPr/>
        </p:nvPicPr>
        <p:blipFill>
          <a:blip r:embed="rId3"/>
          <a:srcRect t="31176" b="31176"/>
          <a:stretch/>
        </p:blipFill>
        <p:spPr>
          <a:xfrm>
            <a:off x="6302375" y="5826125"/>
            <a:ext cx="5445125" cy="1031875"/>
          </a:xfrm>
          <a:prstGeom prst="roundRect">
            <a:avLst>
              <a:gd name="adj" fmla="val 6154"/>
            </a:avLst>
          </a:prstGeom>
        </p:spPr>
      </p:pic>
      <p:sp>
        <p:nvSpPr>
          <p:cNvPr id="37" name="Text 34"/>
          <p:cNvSpPr/>
          <p:nvPr/>
        </p:nvSpPr>
        <p:spPr>
          <a:xfrm>
            <a:off x="6274594" y="6953250"/>
            <a:ext cx="550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3D3A3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Women's empowerment through economic independence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B88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Implications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Conclusions and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160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74750"/>
            <a:ext cx="5699125" cy="2309813"/>
          </a:xfrm>
          <a:custGeom>
            <a:avLst/>
            <a:gdLst/>
            <a:ahLst/>
            <a:cxnLst/>
            <a:rect l="l" t="t" r="r" b="b"/>
            <a:pathLst>
              <a:path w="5699125" h="2309813">
                <a:moveTo>
                  <a:pt x="63497" y="0"/>
                </a:moveTo>
                <a:lnTo>
                  <a:pt x="5635628" y="0"/>
                </a:lnTo>
                <a:cubicBezTo>
                  <a:pt x="5670697" y="0"/>
                  <a:pt x="5699125" y="28428"/>
                  <a:pt x="5699125" y="63497"/>
                </a:cubicBezTo>
                <a:lnTo>
                  <a:pt x="5699125" y="2246316"/>
                </a:lnTo>
                <a:cubicBezTo>
                  <a:pt x="5699125" y="2281384"/>
                  <a:pt x="5670697" y="2309813"/>
                  <a:pt x="5635628" y="2309813"/>
                </a:cubicBezTo>
                <a:lnTo>
                  <a:pt x="63497" y="2309813"/>
                </a:lnTo>
                <a:cubicBezTo>
                  <a:pt x="28428" y="2309813"/>
                  <a:pt x="0" y="2281384"/>
                  <a:pt x="0" y="2246316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6" name="Text 4"/>
          <p:cNvSpPr/>
          <p:nvPr/>
        </p:nvSpPr>
        <p:spPr>
          <a:xfrm>
            <a:off x="476250" y="1333500"/>
            <a:ext cx="5476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Conclusions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" y="1682750"/>
            <a:ext cx="545306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Women's family planning decisional autonomy in Cameroon is shaped by an </a:t>
            </a: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interplay of socioeconomic, individual, interpersonal, and institutional factors</a:t>
            </a: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2125" y="227409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" y="2242344"/>
            <a:ext cx="5222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Education, wealth, employment,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contraceptive use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independently associated with reduced male-dominated decision-making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2125" y="271859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1" name="Text 9"/>
          <p:cNvSpPr/>
          <p:nvPr/>
        </p:nvSpPr>
        <p:spPr>
          <a:xfrm>
            <a:off x="698500" y="2686844"/>
            <a:ext cx="5222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 family planning information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health facilities promotes both joint and woman-alone decision-making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2125" y="316309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13" name="Text 11"/>
          <p:cNvSpPr/>
          <p:nvPr/>
        </p:nvSpPr>
        <p:spPr>
          <a:xfrm>
            <a:off x="698500" y="3131344"/>
            <a:ext cx="451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pronatalism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remains a significant barrier to women's reproductive agency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7500" y="3623469"/>
            <a:ext cx="5699125" cy="1539875"/>
          </a:xfrm>
          <a:custGeom>
            <a:avLst/>
            <a:gdLst/>
            <a:ahLst/>
            <a:cxnLst/>
            <a:rect l="l" t="t" r="r" b="b"/>
            <a:pathLst>
              <a:path w="5699125" h="1539875">
                <a:moveTo>
                  <a:pt x="31750" y="0"/>
                </a:moveTo>
                <a:lnTo>
                  <a:pt x="5667375" y="0"/>
                </a:lnTo>
                <a:cubicBezTo>
                  <a:pt x="5684910" y="0"/>
                  <a:pt x="5699125" y="14215"/>
                  <a:pt x="5699125" y="31750"/>
                </a:cubicBezTo>
                <a:lnTo>
                  <a:pt x="5699125" y="1476371"/>
                </a:lnTo>
                <a:cubicBezTo>
                  <a:pt x="5699125" y="1511443"/>
                  <a:pt x="5670693" y="1539875"/>
                  <a:pt x="5635621" y="1539875"/>
                </a:cubicBezTo>
                <a:lnTo>
                  <a:pt x="63504" y="1539875"/>
                </a:lnTo>
                <a:cubicBezTo>
                  <a:pt x="28432" y="1539875"/>
                  <a:pt x="0" y="1511443"/>
                  <a:pt x="0" y="147637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500" y="3623469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16" name="Shape 14"/>
          <p:cNvSpPr/>
          <p:nvPr/>
        </p:nvSpPr>
        <p:spPr>
          <a:xfrm>
            <a:off x="476250" y="379809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17" name="Text 15"/>
          <p:cNvSpPr/>
          <p:nvPr/>
        </p:nvSpPr>
        <p:spPr>
          <a:xfrm>
            <a:off x="428625" y="3798094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7750" y="3798094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Educational Interventions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47750" y="4083844"/>
            <a:ext cx="487362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Interventions aimed at </a:t>
            </a: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improving women's educational attainment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particularly secondary and higher education, are likely to yield significant benefits for reproductive autonomy. Education simultaneously reduces male-dominated decisions and promotes shared reproductive agency.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7500" y="5306219"/>
            <a:ext cx="5699125" cy="1539875"/>
          </a:xfrm>
          <a:custGeom>
            <a:avLst/>
            <a:gdLst/>
            <a:ahLst/>
            <a:cxnLst/>
            <a:rect l="l" t="t" r="r" b="b"/>
            <a:pathLst>
              <a:path w="5699125" h="1539875">
                <a:moveTo>
                  <a:pt x="31750" y="0"/>
                </a:moveTo>
                <a:lnTo>
                  <a:pt x="5667375" y="0"/>
                </a:lnTo>
                <a:cubicBezTo>
                  <a:pt x="5684910" y="0"/>
                  <a:pt x="5699125" y="14215"/>
                  <a:pt x="5699125" y="31750"/>
                </a:cubicBezTo>
                <a:lnTo>
                  <a:pt x="5699125" y="1476371"/>
                </a:lnTo>
                <a:cubicBezTo>
                  <a:pt x="5699125" y="1511443"/>
                  <a:pt x="5670693" y="1539875"/>
                  <a:pt x="5635621" y="1539875"/>
                </a:cubicBezTo>
                <a:lnTo>
                  <a:pt x="63504" y="1539875"/>
                </a:lnTo>
                <a:cubicBezTo>
                  <a:pt x="28432" y="1539875"/>
                  <a:pt x="0" y="1511443"/>
                  <a:pt x="0" y="1476371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500" y="5306219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22" name="Shape 20"/>
          <p:cNvSpPr/>
          <p:nvPr/>
        </p:nvSpPr>
        <p:spPr>
          <a:xfrm>
            <a:off x="476250" y="5480844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23" name="Text 21"/>
          <p:cNvSpPr/>
          <p:nvPr/>
        </p:nvSpPr>
        <p:spPr>
          <a:xfrm>
            <a:off x="428625" y="5480844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7750" y="5480844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Economic Empowerment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7750" y="5766594"/>
            <a:ext cx="487362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Economic empowerment programmes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targeting married women of reproductive age can complement educational investments by increasing women's negotiating power within the household. Working women show both reduced husband-only and increased joint decision-making.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5375" y="1190625"/>
            <a:ext cx="5699125" cy="1690688"/>
          </a:xfrm>
          <a:custGeom>
            <a:avLst/>
            <a:gdLst/>
            <a:ahLst/>
            <a:cxnLst/>
            <a:rect l="l" t="t" r="r" b="b"/>
            <a:pathLst>
              <a:path w="5699125" h="1690688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1627185"/>
                </a:lnTo>
                <a:cubicBezTo>
                  <a:pt x="5699125" y="1662257"/>
                  <a:pt x="5670694" y="1690688"/>
                  <a:pt x="5635623" y="1690688"/>
                </a:cubicBezTo>
                <a:lnTo>
                  <a:pt x="63502" y="1690688"/>
                </a:lnTo>
                <a:cubicBezTo>
                  <a:pt x="28431" y="1690688"/>
                  <a:pt x="0" y="1662257"/>
                  <a:pt x="0" y="162718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5375" y="119062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8" name="Shape 26"/>
          <p:cNvSpPr/>
          <p:nvPr/>
        </p:nvSpPr>
        <p:spPr>
          <a:xfrm>
            <a:off x="6334125" y="13652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29" name="Text 27"/>
          <p:cNvSpPr/>
          <p:nvPr/>
        </p:nvSpPr>
        <p:spPr>
          <a:xfrm>
            <a:off x="6286500" y="136525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5625" y="1365250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Health Facility-Based Counselling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5625" y="1651000"/>
            <a:ext cx="487362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facilities should </a:t>
            </a: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systematically provide family planning counselling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all women of reproductive age who present for any service, not only those seeking contraceptives. FP information at facilities is associated with both reduced husband-only and increased joint decision-making.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5375" y="3026172"/>
            <a:ext cx="5699125" cy="1690688"/>
          </a:xfrm>
          <a:custGeom>
            <a:avLst/>
            <a:gdLst/>
            <a:ahLst/>
            <a:cxnLst/>
            <a:rect l="l" t="t" r="r" b="b"/>
            <a:pathLst>
              <a:path w="5699125" h="1690688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1627185"/>
                </a:lnTo>
                <a:cubicBezTo>
                  <a:pt x="5699125" y="1662257"/>
                  <a:pt x="5670694" y="1690688"/>
                  <a:pt x="5635623" y="1690688"/>
                </a:cubicBezTo>
                <a:lnTo>
                  <a:pt x="63502" y="1690688"/>
                </a:lnTo>
                <a:cubicBezTo>
                  <a:pt x="28431" y="1690688"/>
                  <a:pt x="0" y="1662257"/>
                  <a:pt x="0" y="162718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5375" y="3026172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34125" y="3200797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5A6F7B"/>
          </a:solidFill>
          <a:ln/>
        </p:spPr>
      </p:sp>
      <p:sp>
        <p:nvSpPr>
          <p:cNvPr id="35" name="Text 33"/>
          <p:cNvSpPr/>
          <p:nvPr/>
        </p:nvSpPr>
        <p:spPr>
          <a:xfrm>
            <a:off x="6286500" y="3200797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05625" y="3200797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A6F7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Male Partner Engagement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05625" y="3486547"/>
            <a:ext cx="487362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Male partner engagement strategies</a:t>
            </a:r>
            <a:r>
              <a:rPr lang="en-US" sz="1000" dirty="0">
                <a:solidFill>
                  <a:srgbClr val="3D3A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should be incorporated into family planning programmes to address the influence of husband's fertility preferences on women's decisional autonomy. When husbands desire more children, women are 57% more likely to be in husband-only decision scenarios.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5375" y="4845844"/>
            <a:ext cx="5699125" cy="2000250"/>
          </a:xfrm>
          <a:custGeom>
            <a:avLst/>
            <a:gdLst/>
            <a:ahLst/>
            <a:cxnLst/>
            <a:rect l="l" t="t" r="r" b="b"/>
            <a:pathLst>
              <a:path w="5699125" h="2000250">
                <a:moveTo>
                  <a:pt x="63508" y="0"/>
                </a:moveTo>
                <a:lnTo>
                  <a:pt x="5635617" y="0"/>
                </a:lnTo>
                <a:cubicBezTo>
                  <a:pt x="5670692" y="0"/>
                  <a:pt x="5699125" y="28433"/>
                  <a:pt x="5699125" y="63508"/>
                </a:cubicBezTo>
                <a:lnTo>
                  <a:pt x="5699125" y="1936742"/>
                </a:lnTo>
                <a:cubicBezTo>
                  <a:pt x="5699125" y="1971817"/>
                  <a:pt x="5670692" y="2000250"/>
                  <a:pt x="5635617" y="2000250"/>
                </a:cubicBezTo>
                <a:lnTo>
                  <a:pt x="63508" y="2000250"/>
                </a:lnTo>
                <a:cubicBezTo>
                  <a:pt x="28433" y="2000250"/>
                  <a:pt x="0" y="1971817"/>
                  <a:pt x="0" y="193674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B88A78"/>
          </a:solidFill>
          <a:ln/>
        </p:spPr>
      </p:sp>
      <p:sp>
        <p:nvSpPr>
          <p:cNvPr id="39" name="Shape 37"/>
          <p:cNvSpPr/>
          <p:nvPr/>
        </p:nvSpPr>
        <p:spPr>
          <a:xfrm>
            <a:off x="6353969" y="503634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86382"/>
                </a:moveTo>
                <a:cubicBezTo>
                  <a:pt x="159711" y="82507"/>
                  <a:pt x="159711" y="76212"/>
                  <a:pt x="155835" y="72337"/>
                </a:cubicBezTo>
                <a:lnTo>
                  <a:pt x="106226" y="22727"/>
                </a:lnTo>
                <a:cubicBezTo>
                  <a:pt x="102350" y="18852"/>
                  <a:pt x="96056" y="18852"/>
                  <a:pt x="92180" y="22727"/>
                </a:cubicBezTo>
                <a:cubicBezTo>
                  <a:pt x="88305" y="26603"/>
                  <a:pt x="88305" y="32897"/>
                  <a:pt x="92180" y="36773"/>
                </a:cubicBezTo>
                <a:lnTo>
                  <a:pt x="124861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4861" y="89297"/>
                </a:lnTo>
                <a:lnTo>
                  <a:pt x="92180" y="121977"/>
                </a:lnTo>
                <a:cubicBezTo>
                  <a:pt x="88305" y="125853"/>
                  <a:pt x="88305" y="132147"/>
                  <a:pt x="92180" y="136023"/>
                </a:cubicBezTo>
                <a:cubicBezTo>
                  <a:pt x="96056" y="139898"/>
                  <a:pt x="102350" y="139898"/>
                  <a:pt x="106226" y="136023"/>
                </a:cubicBezTo>
                <a:lnTo>
                  <a:pt x="155835" y="86413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40" name="Text 38"/>
          <p:cNvSpPr/>
          <p:nvPr/>
        </p:nvSpPr>
        <p:spPr>
          <a:xfrm>
            <a:off x="6532563" y="5004594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Future Research Directions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34125" y="5322094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Examine the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mediating role of intra-couple communication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the relationship between socioeconomic factors and decisional autonomy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34125" y="5798344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Consider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multilevel modelling approaches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accounting for community-level variation in gender norms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34125" y="6274594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Conduct </a:t>
            </a: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longitudinal studies</a:t>
            </a: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tracking changes in autonomy following educational or economic interventions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nglish.news.cn/e36b81491fa4077d15a04161452c53b8280e8d9c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A6F7B">
                  <a:alpha val="95000"/>
                </a:srgbClr>
              </a:gs>
              <a:gs pos="50000">
                <a:srgbClr val="5A6F7B">
                  <a:alpha val="90000"/>
                </a:srgbClr>
              </a:gs>
              <a:gs pos="100000">
                <a:srgbClr val="B88A78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CM" dirty="0"/>
          </a:p>
        </p:txBody>
      </p:sp>
      <p:sp>
        <p:nvSpPr>
          <p:cNvPr id="4" name="Shape 1"/>
          <p:cNvSpPr/>
          <p:nvPr/>
        </p:nvSpPr>
        <p:spPr>
          <a:xfrm>
            <a:off x="5820578" y="149186"/>
            <a:ext cx="550843" cy="550843"/>
          </a:xfrm>
          <a:custGeom>
            <a:avLst/>
            <a:gdLst/>
            <a:ahLst/>
            <a:cxnLst/>
            <a:rect l="l" t="t" r="r" b="b"/>
            <a:pathLst>
              <a:path w="550843" h="550843">
                <a:moveTo>
                  <a:pt x="259284" y="93708"/>
                </a:moveTo>
                <a:lnTo>
                  <a:pt x="275422" y="115978"/>
                </a:lnTo>
                <a:lnTo>
                  <a:pt x="291560" y="93708"/>
                </a:lnTo>
                <a:cubicBezTo>
                  <a:pt x="318456" y="56483"/>
                  <a:pt x="361706" y="34428"/>
                  <a:pt x="407646" y="34428"/>
                </a:cubicBezTo>
                <a:cubicBezTo>
                  <a:pt x="486722" y="34428"/>
                  <a:pt x="550843" y="98549"/>
                  <a:pt x="550843" y="177625"/>
                </a:cubicBezTo>
                <a:lnTo>
                  <a:pt x="550843" y="180423"/>
                </a:lnTo>
                <a:cubicBezTo>
                  <a:pt x="550843" y="301135"/>
                  <a:pt x="400330" y="441320"/>
                  <a:pt x="321792" y="501246"/>
                </a:cubicBezTo>
                <a:cubicBezTo>
                  <a:pt x="308451" y="511359"/>
                  <a:pt x="292098" y="516416"/>
                  <a:pt x="275422" y="516416"/>
                </a:cubicBezTo>
                <a:cubicBezTo>
                  <a:pt x="258746" y="516416"/>
                  <a:pt x="242285" y="511467"/>
                  <a:pt x="229052" y="501246"/>
                </a:cubicBezTo>
                <a:cubicBezTo>
                  <a:pt x="150514" y="441320"/>
                  <a:pt x="0" y="301135"/>
                  <a:pt x="0" y="180423"/>
                </a:cubicBezTo>
                <a:lnTo>
                  <a:pt x="0" y="177625"/>
                </a:lnTo>
                <a:cubicBezTo>
                  <a:pt x="0" y="98549"/>
                  <a:pt x="64122" y="34428"/>
                  <a:pt x="143198" y="34428"/>
                </a:cubicBezTo>
                <a:cubicBezTo>
                  <a:pt x="189137" y="34428"/>
                  <a:pt x="232387" y="56483"/>
                  <a:pt x="259284" y="93708"/>
                </a:cubicBez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5" name="Text 2"/>
          <p:cNvSpPr/>
          <p:nvPr/>
        </p:nvSpPr>
        <p:spPr>
          <a:xfrm>
            <a:off x="4815289" y="644946"/>
            <a:ext cx="2561422" cy="550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337" b="1" dirty="0">
                <a:solidFill>
                  <a:srgbClr val="F8F5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08434" y="1416127"/>
            <a:ext cx="1175133" cy="36723"/>
          </a:xfrm>
          <a:custGeom>
            <a:avLst/>
            <a:gdLst/>
            <a:ahLst/>
            <a:cxnLst/>
            <a:rect l="l" t="t" r="r" b="b"/>
            <a:pathLst>
              <a:path w="1175133" h="36723">
                <a:moveTo>
                  <a:pt x="0" y="0"/>
                </a:moveTo>
                <a:lnTo>
                  <a:pt x="1175133" y="0"/>
                </a:lnTo>
                <a:lnTo>
                  <a:pt x="1175133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</p:sp>
      <p:sp>
        <p:nvSpPr>
          <p:cNvPr id="7" name="Text 4"/>
          <p:cNvSpPr/>
          <p:nvPr/>
        </p:nvSpPr>
        <p:spPr>
          <a:xfrm>
            <a:off x="1909590" y="1966970"/>
            <a:ext cx="8372819" cy="107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35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study contributes to the growing evidence base on </a:t>
            </a:r>
            <a:r>
              <a:rPr lang="en-US" sz="1735" b="1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women's reproductive autonomy in Central Africa</a:t>
            </a:r>
            <a:r>
              <a:rPr lang="en-US" sz="1735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providing actionable insights for policy and programme design.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964675" y="3261452"/>
            <a:ext cx="8262651" cy="1725976"/>
          </a:xfrm>
          <a:custGeom>
            <a:avLst/>
            <a:gdLst/>
            <a:ahLst/>
            <a:cxnLst/>
            <a:rect l="l" t="t" r="r" b="b"/>
            <a:pathLst>
              <a:path w="8262651" h="1725976">
                <a:moveTo>
                  <a:pt x="73440" y="0"/>
                </a:moveTo>
                <a:lnTo>
                  <a:pt x="8189210" y="0"/>
                </a:lnTo>
                <a:cubicBezTo>
                  <a:pt x="8229770" y="0"/>
                  <a:pt x="8262651" y="32880"/>
                  <a:pt x="8262651" y="73440"/>
                </a:cubicBezTo>
                <a:lnTo>
                  <a:pt x="8262651" y="1652536"/>
                </a:lnTo>
                <a:cubicBezTo>
                  <a:pt x="8262651" y="1693096"/>
                  <a:pt x="8229770" y="1725976"/>
                  <a:pt x="8189210" y="1725976"/>
                </a:cubicBezTo>
                <a:lnTo>
                  <a:pt x="73440" y="1725976"/>
                </a:lnTo>
                <a:cubicBezTo>
                  <a:pt x="32880" y="1725976"/>
                  <a:pt x="0" y="1693096"/>
                  <a:pt x="0" y="1652536"/>
                </a:cubicBezTo>
                <a:lnTo>
                  <a:pt x="0" y="73440"/>
                </a:lnTo>
                <a:cubicBezTo>
                  <a:pt x="0" y="32907"/>
                  <a:pt x="32907" y="0"/>
                  <a:pt x="7344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139108" y="3481789"/>
            <a:ext cx="7913783" cy="59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46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research should examine the mediating role of </a:t>
            </a:r>
            <a:r>
              <a:rPr lang="en-US" sz="1446" b="1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intra-couple communication</a:t>
            </a:r>
            <a:r>
              <a:rPr lang="en-US" sz="1446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consider </a:t>
            </a:r>
            <a:r>
              <a:rPr lang="en-US" sz="1446" b="1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multilevel modelling approaches</a:t>
            </a:r>
            <a:r>
              <a:rPr lang="en-US" sz="1446" dirty="0">
                <a:solidFill>
                  <a:srgbClr val="F8F5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accounting for community-level variation in gender norms.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43699" y="4225428"/>
            <a:ext cx="7904602" cy="54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1" dirty="0">
                <a:solidFill>
                  <a:srgbClr val="F8F5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Longitudinal studies tracking changes in autonomy following educational or economic interventions would also be valuable.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34639" y="5845825"/>
            <a:ext cx="2322723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2277</Words>
  <Application>Microsoft Office PowerPoint</Application>
  <PresentationFormat>Widescreen</PresentationFormat>
  <Paragraphs>322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Quattrocento Sans</vt:lpstr>
      <vt:lpstr>Arial</vt:lpstr>
      <vt:lpstr>Oranienbaum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Women's Decisional Autonomy in Family Planning — Cameroon</dc:title>
  <dc:subject>Women's Decisional Autonomy in Family Planning — Cameroon</dc:subject>
  <dc:creator>Kimi</dc:creator>
  <cp:lastModifiedBy>ENOW BRENDA</cp:lastModifiedBy>
  <cp:revision>3</cp:revision>
  <dcterms:created xsi:type="dcterms:W3CDTF">2026-04-04T01:24:18Z</dcterms:created>
  <dcterms:modified xsi:type="dcterms:W3CDTF">2026-04-04T07:28:24Z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{"Label":"Women's Decisional Autonomy in Family Planning — Cameroon","ContentProducer":"001191110108MACG2KBH8F10000","ProduceID":"19d55f62-4cd2-889a-8000-0000d1cfd1f6","ReservedCode1":"","ContentPropagator":"001191110108MACG2KBH8F20000","PropagateID":"19d55f62-4cd2-889a-8000-0000d1cfd1f6","ReservedCode2":""}</vt:lpwstr>
  </property>
</Properties>
</file>